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Libre Franklin"/>
      <p:regular r:id="rId22"/>
      <p:bold r:id="rId23"/>
      <p:italic r:id="rId24"/>
      <p:boldItalic r:id="rId25"/>
    </p:embeddedFont>
    <p:embeddedFont>
      <p:font typeface="PT Serif"/>
      <p:regular r:id="rId26"/>
      <p:bold r:id="rId27"/>
      <p:italic r:id="rId28"/>
      <p:boldItalic r:id="rId29"/>
    </p:embeddedFon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iQ3NmQmzOIIcTsxLuk3PFawyAF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B7376E-2B67-4CFF-8DC8-F2758C73472E}">
  <a:tblStyle styleId="{DFB7376E-2B67-4CFF-8DC8-F2758C73472E}"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LibreFranklin-regular.fntdata"/><Relationship Id="rId21" Type="http://schemas.openxmlformats.org/officeDocument/2006/relationships/slide" Target="slides/slide16.xml"/><Relationship Id="rId24" Type="http://schemas.openxmlformats.org/officeDocument/2006/relationships/font" Target="fonts/LibreFranklin-italic.fntdata"/><Relationship Id="rId23" Type="http://schemas.openxmlformats.org/officeDocument/2006/relationships/font" Target="fonts/LibreFranklin-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TSerif-regular.fntdata"/><Relationship Id="rId25" Type="http://schemas.openxmlformats.org/officeDocument/2006/relationships/font" Target="fonts/LibreFranklin-boldItalic.fntdata"/><Relationship Id="rId28" Type="http://schemas.openxmlformats.org/officeDocument/2006/relationships/font" Target="fonts/PTSerif-italic.fntdata"/><Relationship Id="rId27" Type="http://schemas.openxmlformats.org/officeDocument/2006/relationships/font" Target="fonts/PTSerif-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TSerif-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6.xml"/><Relationship Id="rId33" Type="http://schemas.openxmlformats.org/officeDocument/2006/relationships/font" Target="fonts/OpenSans-boldItalic.fntdata"/><Relationship Id="rId10" Type="http://schemas.openxmlformats.org/officeDocument/2006/relationships/slide" Target="slides/slide5.xml"/><Relationship Id="rId32" Type="http://schemas.openxmlformats.org/officeDocument/2006/relationships/font" Target="fonts/OpenSans-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lnSpc>
                <a:spcPct val="100000"/>
              </a:lnSpc>
              <a:spcBef>
                <a:spcPts val="0"/>
              </a:spcBef>
              <a:spcAft>
                <a:spcPts val="0"/>
              </a:spcAft>
              <a:buClr>
                <a:schemeClr val="dk1"/>
              </a:buClr>
              <a:buSzPts val="1200"/>
              <a:buFont typeface="Arial"/>
              <a:buChar char="•"/>
            </a:pPr>
            <a:r>
              <a:rPr lang="en-US"/>
              <a:t>Mechanical Engineer at PMEL, what we do = design build and operate large global observational arrays = moorings</a:t>
            </a:r>
            <a:endParaRPr/>
          </a:p>
          <a:p>
            <a:pPr indent="-171450" lvl="0" marL="171450" rtl="0" algn="l">
              <a:lnSpc>
                <a:spcPct val="100000"/>
              </a:lnSpc>
              <a:spcBef>
                <a:spcPts val="0"/>
              </a:spcBef>
              <a:spcAft>
                <a:spcPts val="0"/>
              </a:spcAft>
              <a:buClr>
                <a:schemeClr val="dk1"/>
              </a:buClr>
              <a:buSzPts val="1200"/>
              <a:buFont typeface="Arial"/>
              <a:buChar char="•"/>
            </a:pPr>
            <a:r>
              <a:rPr lang="en-US"/>
              <a:t>LCP was kickstarted by PMEL’s ITAE program = Innovative Technology for Arctic Exploration = Lab level, high risk High reward technology development funding to meet NOAA’s future ocean observation needs (other projects included Oculus and Saildrone)</a:t>
            </a:r>
            <a:endParaRPr/>
          </a:p>
        </p:txBody>
      </p:sp>
      <p:sp>
        <p:nvSpPr>
          <p:cNvPr id="110" name="Google Shape;11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550ac73528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550ac73528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g3550ac73528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chemeClr val="dk1"/>
              </a:buClr>
              <a:buSzPts val="1500"/>
              <a:buFont typeface="Calibri"/>
              <a:buChar char="●"/>
            </a:pPr>
            <a:r>
              <a:rPr lang="en-US"/>
              <a:t>Quick rundown of this presentation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Clr>
                <a:schemeClr val="dk1"/>
              </a:buClr>
              <a:buSzPts val="1200"/>
              <a:buFont typeface="Arial"/>
              <a:buChar char="•"/>
            </a:pPr>
            <a:r>
              <a:rPr lang="en-US"/>
              <a:t>PMEL has developed the LCP, goal is to make a profile for &lt;30$, an </a:t>
            </a:r>
            <a:r>
              <a:rPr b="1" lang="en-US"/>
              <a:t>order of magnitude less</a:t>
            </a:r>
            <a:r>
              <a:rPr lang="en-US"/>
              <a:t> than current profiling floats.</a:t>
            </a:r>
            <a:endParaRPr/>
          </a:p>
          <a:p>
            <a:pPr indent="-171450" lvl="0" marL="171450" marR="0" rtl="0" algn="l">
              <a:lnSpc>
                <a:spcPct val="100000"/>
              </a:lnSpc>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Developed to be easily built, configured, and deployed by air, ship or hand. </a:t>
            </a:r>
            <a:endParaRPr b="0" i="0" sz="1200" u="none" cap="none" strike="noStrike">
              <a:solidFill>
                <a:schemeClr val="dk1"/>
              </a:solidFill>
              <a:latin typeface="Calibri"/>
              <a:ea typeface="Calibri"/>
              <a:cs typeface="Calibri"/>
              <a:sym typeface="Calibri"/>
            </a:endParaRPr>
          </a:p>
          <a:p>
            <a:pPr indent="-171450" lvl="0" marL="171450" rtl="0" algn="l">
              <a:lnSpc>
                <a:spcPct val="100000"/>
              </a:lnSpc>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Simple Design = the LCP uses a direct-drive buoyancy engine to reduce mechanical complexity</a:t>
            </a:r>
            <a:endParaRPr sz="1200">
              <a:solidFill>
                <a:schemeClr val="dk1"/>
              </a:solidFill>
              <a:latin typeface="Calibri"/>
              <a:ea typeface="Calibri"/>
              <a:cs typeface="Calibri"/>
              <a:sym typeface="Calibri"/>
            </a:endParaRPr>
          </a:p>
          <a:p>
            <a:pPr indent="-171450" lvl="0" marL="171450" rtl="0" algn="l">
              <a:lnSpc>
                <a:spcPct val="100000"/>
              </a:lnSpc>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Geared towards </a:t>
            </a:r>
            <a:r>
              <a:rPr b="1" lang="en-US" sz="1200">
                <a:solidFill>
                  <a:schemeClr val="dk1"/>
                </a:solidFill>
                <a:latin typeface="Calibri"/>
                <a:ea typeface="Calibri"/>
                <a:cs typeface="Calibri"/>
                <a:sym typeface="Calibri"/>
              </a:rPr>
              <a:t>community involvement in sensor integration, goal is to bring your own sensor to an open source design that can be purchased from a contract manufacturer</a:t>
            </a:r>
            <a:endParaRPr/>
          </a:p>
          <a:p>
            <a:pPr indent="-95250" lvl="0" marL="171450" marR="0" rtl="0" algn="l">
              <a:lnSpc>
                <a:spcPct val="100000"/>
              </a:lnSpc>
              <a:spcBef>
                <a:spcPts val="0"/>
              </a:spcBef>
              <a:spcAft>
                <a:spcPts val="0"/>
              </a:spcAft>
              <a:buClr>
                <a:schemeClr val="dk1"/>
              </a:buClr>
              <a:buSzPts val="1200"/>
              <a:buFont typeface="Arial"/>
              <a:buNone/>
            </a:pPr>
            <a:r>
              <a:t/>
            </a:r>
            <a:endParaRPr/>
          </a:p>
          <a:p>
            <a:pPr indent="-95250" lvl="0" marL="171450" rtl="0" algn="l">
              <a:lnSpc>
                <a:spcPct val="100000"/>
              </a:lnSpc>
              <a:spcBef>
                <a:spcPts val="0"/>
              </a:spcBef>
              <a:spcAft>
                <a:spcPts val="0"/>
              </a:spcAft>
              <a:buClr>
                <a:schemeClr val="dk1"/>
              </a:buClr>
              <a:buSzPts val="1200"/>
              <a:buFont typeface="Arial"/>
              <a:buNone/>
            </a:pPr>
            <a:r>
              <a:t/>
            </a:r>
            <a:endParaRPr b="1" sz="1200">
              <a:solidFill>
                <a:schemeClr val="dk1"/>
              </a:solidFill>
              <a:latin typeface="Calibri"/>
              <a:ea typeface="Calibri"/>
              <a:cs typeface="Calibri"/>
              <a:sym typeface="Calibri"/>
            </a:endParaRPr>
          </a:p>
          <a:p>
            <a:pPr indent="-171450" lvl="0" marL="171450" rtl="0" algn="l">
              <a:lnSpc>
                <a:spcPct val="100000"/>
              </a:lnSpc>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The LCP can be configured pre-mission to perform in </a:t>
            </a:r>
            <a:r>
              <a:rPr b="1" lang="en-US" sz="1200">
                <a:solidFill>
                  <a:schemeClr val="dk1"/>
                </a:solidFill>
                <a:latin typeface="Calibri"/>
                <a:ea typeface="Calibri"/>
                <a:cs typeface="Calibri"/>
                <a:sym typeface="Calibri"/>
              </a:rPr>
              <a:t>different observational roles, including drifting, timed release and moored, </a:t>
            </a:r>
            <a:r>
              <a:rPr lang="en-US" sz="1200">
                <a:solidFill>
                  <a:schemeClr val="dk1"/>
                </a:solidFill>
                <a:latin typeface="Calibri"/>
                <a:ea typeface="Calibri"/>
                <a:cs typeface="Calibri"/>
                <a:sym typeface="Calibri"/>
              </a:rPr>
              <a:t>making it a unique tool for autonomously profiling the upper 200m of a water body.  </a:t>
            </a:r>
            <a:endParaRPr/>
          </a:p>
        </p:txBody>
      </p:sp>
      <p:sp>
        <p:nvSpPr>
          <p:cNvPr id="136" name="Google Shape;13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Clr>
                <a:schemeClr val="dk1"/>
              </a:buClr>
              <a:buSzPts val="1200"/>
              <a:buFont typeface="Arial"/>
              <a:buChar char="•"/>
            </a:pPr>
            <a:r>
              <a:rPr lang="en-US"/>
              <a:t>Key to </a:t>
            </a:r>
            <a:r>
              <a:rPr b="1" lang="en-US"/>
              <a:t>reducing costs is using </a:t>
            </a:r>
            <a:r>
              <a:rPr b="1" lang="en-US" sz="1200">
                <a:solidFill>
                  <a:schemeClr val="dk1"/>
                </a:solidFill>
                <a:latin typeface="Calibri"/>
                <a:ea typeface="Calibri"/>
                <a:cs typeface="Calibri"/>
                <a:sym typeface="Calibri"/>
              </a:rPr>
              <a:t>OEM manufacturer calibrated sensors </a:t>
            </a:r>
            <a:endParaRPr/>
          </a:p>
          <a:p>
            <a:pPr indent="-95250" lvl="0" marL="171450" rtl="0" algn="l">
              <a:lnSpc>
                <a:spcPct val="100000"/>
              </a:lnSpc>
              <a:spcBef>
                <a:spcPts val="0"/>
              </a:spcBef>
              <a:spcAft>
                <a:spcPts val="0"/>
              </a:spcAft>
              <a:buClr>
                <a:schemeClr val="dk1"/>
              </a:buClr>
              <a:buSzPts val="12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chemeClr val="dk1"/>
              </a:buClr>
              <a:buSzPts val="1500"/>
              <a:buFont typeface="Calibri"/>
              <a:buChar char="●"/>
            </a:pPr>
            <a:r>
              <a:rPr lang="en-US" sz="1200"/>
              <a:t>Observation challenge = </a:t>
            </a:r>
            <a:r>
              <a:rPr b="1" lang="en-US" sz="1200" u="sng"/>
              <a:t>work to do to reduce the uncertainty in our predictive capability </a:t>
            </a:r>
            <a:r>
              <a:rPr lang="en-US" sz="1200"/>
              <a:t>= opportunity for technology innovation in our flat funded world!</a:t>
            </a:r>
            <a:endParaRPr/>
          </a:p>
          <a:p>
            <a:pPr indent="-323850" lvl="0" marL="457200" marR="0" rtl="0" algn="l">
              <a:lnSpc>
                <a:spcPct val="100000"/>
              </a:lnSpc>
              <a:spcBef>
                <a:spcPts val="0"/>
              </a:spcBef>
              <a:spcAft>
                <a:spcPts val="0"/>
              </a:spcAft>
              <a:buClr>
                <a:schemeClr val="dk1"/>
              </a:buClr>
              <a:buSzPts val="1500"/>
              <a:buFont typeface="Calibri"/>
              <a:buChar char="●"/>
            </a:pPr>
            <a:r>
              <a:rPr lang="en-US" sz="900">
                <a:solidFill>
                  <a:schemeClr val="dk1"/>
                </a:solidFill>
                <a:latin typeface="Calibri"/>
                <a:ea typeface="Calibri"/>
                <a:cs typeface="Calibri"/>
                <a:sym typeface="Calibri"/>
              </a:rPr>
              <a:t>In </a:t>
            </a:r>
            <a:r>
              <a:rPr b="0" lang="en-US" sz="900">
                <a:solidFill>
                  <a:schemeClr val="dk1"/>
                </a:solidFill>
                <a:latin typeface="Calibri"/>
                <a:ea typeface="Calibri"/>
                <a:cs typeface="Calibri"/>
                <a:sym typeface="Calibri"/>
              </a:rPr>
              <a:t>response to this challenge</a:t>
            </a:r>
            <a:r>
              <a:rPr lang="en-US" sz="9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NOAA-PMEL is </a:t>
            </a:r>
            <a:r>
              <a:rPr b="1" lang="en-US" sz="1200">
                <a:solidFill>
                  <a:schemeClr val="dk1"/>
                </a:solidFill>
                <a:latin typeface="Calibri"/>
                <a:ea typeface="Calibri"/>
                <a:cs typeface="Calibri"/>
                <a:sym typeface="Calibri"/>
              </a:rPr>
              <a:t>exploring innovative methods to quickly propagate and support high quality, low cost, tools throughout our community</a:t>
            </a:r>
            <a:r>
              <a:rPr lang="en-US" sz="1200">
                <a:solidFill>
                  <a:schemeClr val="dk1"/>
                </a:solidFill>
                <a:latin typeface="Calibri"/>
                <a:ea typeface="Calibri"/>
                <a:cs typeface="Calibri"/>
                <a:sym typeface="Calibri"/>
              </a:rPr>
              <a:t>.</a:t>
            </a:r>
            <a:r>
              <a:rPr lang="en-US" sz="900">
                <a:solidFill>
                  <a:schemeClr val="dk1"/>
                </a:solidFill>
                <a:latin typeface="Calibri"/>
                <a:ea typeface="Calibri"/>
                <a:cs typeface="Calibri"/>
                <a:sym typeface="Calibri"/>
              </a:rPr>
              <a:t> </a:t>
            </a:r>
            <a:endParaRPr/>
          </a:p>
          <a:p>
            <a:pPr indent="-323850" lvl="0" marL="457200" marR="0" rtl="0" algn="l">
              <a:lnSpc>
                <a:spcPct val="100000"/>
              </a:lnSpc>
              <a:spcBef>
                <a:spcPts val="0"/>
              </a:spcBef>
              <a:spcAft>
                <a:spcPts val="0"/>
              </a:spcAft>
              <a:buClr>
                <a:schemeClr val="dk1"/>
              </a:buClr>
              <a:buSzPts val="1500"/>
              <a:buFont typeface="Calibri"/>
              <a:buChar char="●"/>
            </a:pPr>
            <a:r>
              <a:rPr b="1" lang="en-US" sz="1200" u="sng">
                <a:solidFill>
                  <a:schemeClr val="dk1"/>
                </a:solidFill>
                <a:latin typeface="Calibri"/>
                <a:ea typeface="Calibri"/>
                <a:cs typeface="Calibri"/>
                <a:sym typeface="Calibri"/>
              </a:rPr>
              <a:t>Requires the development of fit-for-purpose tools to fill gaps in our traditional observational array</a:t>
            </a:r>
            <a:endParaRPr sz="1200">
              <a:solidFill>
                <a:schemeClr val="dk1"/>
              </a:solidFill>
              <a:latin typeface="Calibri"/>
              <a:ea typeface="Calibri"/>
              <a:cs typeface="Calibri"/>
              <a:sym typeface="Calibri"/>
            </a:endParaRPr>
          </a:p>
          <a:p>
            <a:pPr indent="-323850" lvl="0" marL="457200" marR="0" rtl="0" algn="l">
              <a:lnSpc>
                <a:spcPct val="100000"/>
              </a:lnSpc>
              <a:spcBef>
                <a:spcPts val="0"/>
              </a:spcBef>
              <a:spcAft>
                <a:spcPts val="0"/>
              </a:spcAft>
              <a:buClr>
                <a:schemeClr val="dk1"/>
              </a:buClr>
              <a:buSzPts val="1500"/>
              <a:buFont typeface="Calibri"/>
              <a:buChar char="●"/>
            </a:pPr>
            <a:r>
              <a:rPr lang="en-US" sz="1200">
                <a:solidFill>
                  <a:schemeClr val="dk1"/>
                </a:solidFill>
                <a:latin typeface="Calibri"/>
                <a:ea typeface="Calibri"/>
                <a:cs typeface="Calibri"/>
                <a:sym typeface="Calibri"/>
              </a:rPr>
              <a:t>LCP Solution =</a:t>
            </a:r>
            <a:endParaRPr/>
          </a:p>
          <a:p>
            <a:pPr indent="-323850" lvl="1" marL="914400" marR="0" rtl="0" algn="l">
              <a:lnSpc>
                <a:spcPct val="100000"/>
              </a:lnSpc>
              <a:spcBef>
                <a:spcPts val="0"/>
              </a:spcBef>
              <a:spcAft>
                <a:spcPts val="0"/>
              </a:spcAft>
              <a:buClr>
                <a:schemeClr val="dk1"/>
              </a:buClr>
              <a:buSzPts val="1500"/>
              <a:buFont typeface="Calibri"/>
              <a:buChar char="●"/>
            </a:pPr>
            <a:r>
              <a:rPr b="1" lang="en-US" sz="1200">
                <a:solidFill>
                  <a:schemeClr val="dk1"/>
                </a:solidFill>
                <a:latin typeface="Calibri"/>
                <a:ea typeface="Calibri"/>
                <a:cs typeface="Calibri"/>
                <a:sym typeface="Calibri"/>
              </a:rPr>
              <a:t>Multi-mission capable = capitalize on economies of scale.</a:t>
            </a:r>
            <a:endParaRPr/>
          </a:p>
          <a:p>
            <a:pPr indent="-323850" lvl="1" marL="914400" marR="0" rtl="0" algn="l">
              <a:lnSpc>
                <a:spcPct val="100000"/>
              </a:lnSpc>
              <a:spcBef>
                <a:spcPts val="0"/>
              </a:spcBef>
              <a:spcAft>
                <a:spcPts val="0"/>
              </a:spcAft>
              <a:buClr>
                <a:schemeClr val="dk1"/>
              </a:buClr>
              <a:buSzPts val="1500"/>
              <a:buFont typeface="Calibri"/>
              <a:buChar char="●"/>
            </a:pPr>
            <a:r>
              <a:rPr b="1" lang="en-US" sz="1200">
                <a:solidFill>
                  <a:schemeClr val="dk1"/>
                </a:solidFill>
                <a:latin typeface="Calibri"/>
                <a:ea typeface="Calibri"/>
                <a:cs typeface="Calibri"/>
                <a:sym typeface="Calibri"/>
              </a:rPr>
              <a:t>Keep costs low to allow for risk taking and rapidly scale in situ observations</a:t>
            </a:r>
            <a:endParaRPr/>
          </a:p>
          <a:p>
            <a:pPr indent="-323850" lvl="1" marL="914400" marR="0" rtl="0" algn="l">
              <a:lnSpc>
                <a:spcPct val="100000"/>
              </a:lnSpc>
              <a:spcBef>
                <a:spcPts val="0"/>
              </a:spcBef>
              <a:spcAft>
                <a:spcPts val="0"/>
              </a:spcAft>
              <a:buClr>
                <a:schemeClr val="dk1"/>
              </a:buClr>
              <a:buSzPts val="1500"/>
              <a:buFont typeface="Calibri"/>
              <a:buChar char="●"/>
            </a:pPr>
            <a:r>
              <a:rPr b="1" lang="en-US" sz="1200">
                <a:solidFill>
                  <a:schemeClr val="dk1"/>
                </a:solidFill>
                <a:latin typeface="Calibri"/>
                <a:ea typeface="Calibri"/>
                <a:cs typeface="Calibri"/>
                <a:sym typeface="Calibri"/>
              </a:rPr>
              <a:t>Sensors are very expensive = make profiles</a:t>
            </a:r>
            <a:endParaRPr/>
          </a:p>
          <a:p>
            <a:pPr indent="-323850" lvl="1" marL="914400" marR="0" rtl="0" algn="l">
              <a:lnSpc>
                <a:spcPct val="100000"/>
              </a:lnSpc>
              <a:spcBef>
                <a:spcPts val="0"/>
              </a:spcBef>
              <a:spcAft>
                <a:spcPts val="0"/>
              </a:spcAft>
              <a:buClr>
                <a:schemeClr val="dk1"/>
              </a:buClr>
              <a:buSzPts val="1500"/>
              <a:buFont typeface="Calibri"/>
              <a:buChar char="●"/>
            </a:pPr>
            <a:r>
              <a:rPr b="1" lang="en-US" sz="1200">
                <a:solidFill>
                  <a:schemeClr val="dk1"/>
                </a:solidFill>
                <a:latin typeface="Calibri"/>
                <a:ea typeface="Calibri"/>
                <a:cs typeface="Calibri"/>
                <a:sym typeface="Calibri"/>
              </a:rPr>
              <a:t>Profiling floats have proven successful at covering large volumes, ARGO like…. but much cheaper</a:t>
            </a:r>
            <a:endParaRPr/>
          </a:p>
          <a:p>
            <a:pPr indent="-323850" lvl="0" marL="457200" marR="0" rtl="0" algn="l">
              <a:lnSpc>
                <a:spcPct val="100000"/>
              </a:lnSpc>
              <a:spcBef>
                <a:spcPts val="0"/>
              </a:spcBef>
              <a:spcAft>
                <a:spcPts val="0"/>
              </a:spcAft>
              <a:buClr>
                <a:schemeClr val="dk1"/>
              </a:buClr>
              <a:buSzPts val="1500"/>
              <a:buFont typeface="Calibri"/>
              <a:buChar char="●"/>
            </a:pPr>
            <a:r>
              <a:rPr b="1" lang="en-US" sz="1200">
                <a:solidFill>
                  <a:schemeClr val="dk1"/>
                </a:solidFill>
                <a:latin typeface="Calibri"/>
                <a:ea typeface="Calibri"/>
                <a:cs typeface="Calibri"/>
                <a:sym typeface="Calibri"/>
              </a:rPr>
              <a:t>Relevance &amp; Application Examples: LCP </a:t>
            </a:r>
            <a:r>
              <a:rPr b="0" lang="en-US" sz="1200">
                <a:solidFill>
                  <a:schemeClr val="dk1"/>
                </a:solidFill>
                <a:latin typeface="Calibri"/>
                <a:ea typeface="Calibri"/>
                <a:cs typeface="Calibri"/>
                <a:sym typeface="Calibri"/>
              </a:rPr>
              <a:t>h</a:t>
            </a:r>
            <a:r>
              <a:rPr b="0" i="0" lang="en-US" sz="1200" u="none" cap="none" strike="noStrike">
                <a:solidFill>
                  <a:schemeClr val="dk1"/>
                </a:solidFill>
                <a:latin typeface="Calibri"/>
                <a:ea typeface="Calibri"/>
                <a:cs typeface="Calibri"/>
                <a:sym typeface="Calibri"/>
              </a:rPr>
              <a:t>as wide applicability to many NOAA R&amp;D vision areas and the 2026 strategic research guidance memorandum</a:t>
            </a:r>
            <a:endParaRPr/>
          </a:p>
          <a:p>
            <a:pPr indent="-323850" lvl="1" marL="914400" marR="0" rtl="0" algn="l">
              <a:lnSpc>
                <a:spcPct val="100000"/>
              </a:lnSpc>
              <a:spcBef>
                <a:spcPts val="0"/>
              </a:spcBef>
              <a:spcAft>
                <a:spcPts val="0"/>
              </a:spcAft>
              <a:buClr>
                <a:schemeClr val="dk1"/>
              </a:buClr>
              <a:buSzPts val="1500"/>
              <a:buFont typeface="Calibri"/>
              <a:buChar char="●"/>
            </a:pPr>
            <a:r>
              <a:rPr b="0" i="0" lang="en-US" sz="1200" u="none" cap="none" strike="noStrike">
                <a:solidFill>
                  <a:schemeClr val="dk1"/>
                </a:solidFill>
                <a:latin typeface="Calibri"/>
                <a:ea typeface="Calibri"/>
                <a:cs typeface="Calibri"/>
                <a:sym typeface="Calibri"/>
              </a:rPr>
              <a:t>Vision Area 1: Hazardous and Extreme Weather = Hurricane Intensity</a:t>
            </a:r>
            <a:endParaRPr/>
          </a:p>
          <a:p>
            <a:pPr indent="-323850" lvl="1" marL="914400" marR="0" rtl="0" algn="l">
              <a:lnSpc>
                <a:spcPct val="100000"/>
              </a:lnSpc>
              <a:spcBef>
                <a:spcPts val="0"/>
              </a:spcBef>
              <a:spcAft>
                <a:spcPts val="0"/>
              </a:spcAft>
              <a:buClr>
                <a:schemeClr val="dk1"/>
              </a:buClr>
              <a:buSzPts val="1500"/>
              <a:buFont typeface="Calibri"/>
              <a:buChar char="●"/>
            </a:pPr>
            <a:r>
              <a:rPr b="0" i="0" lang="en-US" sz="1200" u="none" cap="none" strike="noStrike">
                <a:solidFill>
                  <a:schemeClr val="dk1"/>
                </a:solidFill>
                <a:latin typeface="Calibri"/>
                <a:ea typeface="Calibri"/>
                <a:cs typeface="Calibri"/>
                <a:sym typeface="Calibri"/>
              </a:rPr>
              <a:t>Vision Area 2: Sustainable fisheries</a:t>
            </a:r>
            <a:endParaRPr/>
          </a:p>
          <a:p>
            <a:pPr indent="-323850" lvl="1" marL="914400" marR="0" rtl="0" algn="l">
              <a:lnSpc>
                <a:spcPct val="100000"/>
              </a:lnSpc>
              <a:spcBef>
                <a:spcPts val="0"/>
              </a:spcBef>
              <a:spcAft>
                <a:spcPts val="0"/>
              </a:spcAft>
              <a:buClr>
                <a:schemeClr val="dk1"/>
              </a:buClr>
              <a:buSzPts val="1500"/>
              <a:buFont typeface="Calibri"/>
              <a:buChar char="●"/>
            </a:pPr>
            <a:r>
              <a:rPr b="0" i="0" lang="en-US" sz="1200" u="none" cap="none" strike="noStrike">
                <a:solidFill>
                  <a:schemeClr val="dk1"/>
                </a:solidFill>
                <a:latin typeface="Calibri"/>
                <a:ea typeface="Calibri"/>
                <a:cs typeface="Calibri"/>
                <a:sym typeface="Calibri"/>
              </a:rPr>
              <a:t>SRGM: improve coverage of observations = gap filling &amp; Arctic &amp; HAB</a:t>
            </a:r>
            <a:endParaRPr/>
          </a:p>
          <a:p>
            <a:pPr indent="-228600" lvl="0" marL="457200" marR="0" rtl="0" algn="l">
              <a:lnSpc>
                <a:spcPct val="100000"/>
              </a:lnSpc>
              <a:spcBef>
                <a:spcPts val="0"/>
              </a:spcBef>
              <a:spcAft>
                <a:spcPts val="0"/>
              </a:spcAft>
              <a:buClr>
                <a:schemeClr val="dk1"/>
              </a:buClr>
              <a:buSzPts val="1500"/>
              <a:buFont typeface="Calibri"/>
              <a:buNone/>
            </a:pPr>
            <a:r>
              <a:t/>
            </a:r>
            <a:endParaRPr b="0" i="0" sz="1200" u="none" cap="none" strike="noStrike">
              <a:solidFill>
                <a:schemeClr val="dk1"/>
              </a:solidFill>
              <a:latin typeface="Calibri"/>
              <a:ea typeface="Calibri"/>
              <a:cs typeface="Calibri"/>
              <a:sym typeface="Calibri"/>
            </a:endParaRPr>
          </a:p>
          <a:p>
            <a:pPr indent="-323850" lvl="0" marL="457200" marR="0" rtl="0" algn="l">
              <a:lnSpc>
                <a:spcPct val="100000"/>
              </a:lnSpc>
              <a:spcBef>
                <a:spcPts val="0"/>
              </a:spcBef>
              <a:spcAft>
                <a:spcPts val="0"/>
              </a:spcAft>
              <a:buClr>
                <a:schemeClr val="dk1"/>
              </a:buClr>
              <a:buSzPts val="1500"/>
              <a:buFont typeface="Calibri"/>
              <a:buChar char="●"/>
            </a:pPr>
            <a:r>
              <a:rPr b="0" i="0" lang="en-US" sz="1200" u="none" cap="none" strike="noStrike">
                <a:solidFill>
                  <a:schemeClr val="dk1"/>
                </a:solidFill>
                <a:latin typeface="Calibri"/>
                <a:ea typeface="Calibri"/>
                <a:cs typeface="Calibri"/>
                <a:sym typeface="Calibri"/>
              </a:rPr>
              <a:t>Here</a:t>
            </a:r>
            <a:r>
              <a:rPr b="0" lang="en-US" sz="1200">
                <a:solidFill>
                  <a:schemeClr val="dk1"/>
                </a:solidFill>
                <a:latin typeface="Calibri"/>
                <a:ea typeface="Calibri"/>
                <a:cs typeface="Calibri"/>
                <a:sym typeface="Calibri"/>
              </a:rPr>
              <a:t> are a few we are actively </a:t>
            </a:r>
            <a:r>
              <a:rPr lang="en-US"/>
              <a:t>pursuing</a:t>
            </a:r>
            <a:r>
              <a:rPr b="0" lang="en-US" sz="1200">
                <a:solidFill>
                  <a:schemeClr val="dk1"/>
                </a:solidFill>
                <a:latin typeface="Calibri"/>
                <a:ea typeface="Calibri"/>
                <a:cs typeface="Calibri"/>
                <a:sym typeface="Calibri"/>
              </a:rPr>
              <a:t> that address , others? Let’s talk = rely on word of mouth for tech dissemination.</a:t>
            </a:r>
            <a:endParaRPr/>
          </a:p>
          <a:p>
            <a:pPr indent="-228600" lvl="1" marL="914400" marR="0" rtl="0" algn="l">
              <a:lnSpc>
                <a:spcPct val="100000"/>
              </a:lnSpc>
              <a:spcBef>
                <a:spcPts val="0"/>
              </a:spcBef>
              <a:spcAft>
                <a:spcPts val="0"/>
              </a:spcAft>
              <a:buClr>
                <a:schemeClr val="dk1"/>
              </a:buClr>
              <a:buSzPts val="1500"/>
              <a:buFont typeface="Calibri"/>
              <a:buNone/>
            </a:pPr>
            <a:r>
              <a:t/>
            </a:r>
            <a:endParaRPr b="1" sz="1200">
              <a:solidFill>
                <a:schemeClr val="dk1"/>
              </a:solidFill>
              <a:latin typeface="Calibri"/>
              <a:ea typeface="Calibri"/>
              <a:cs typeface="Calibri"/>
              <a:sym typeface="Calibri"/>
            </a:endParaRPr>
          </a:p>
          <a:p>
            <a:pPr indent="-228600" lvl="1" marL="914400" marR="0" rtl="0" algn="l">
              <a:lnSpc>
                <a:spcPct val="100000"/>
              </a:lnSpc>
              <a:spcBef>
                <a:spcPts val="0"/>
              </a:spcBef>
              <a:spcAft>
                <a:spcPts val="0"/>
              </a:spcAft>
              <a:buClr>
                <a:schemeClr val="dk1"/>
              </a:buClr>
              <a:buSzPts val="1500"/>
              <a:buFont typeface="Calibri"/>
              <a:buNone/>
            </a:pPr>
            <a:r>
              <a:t/>
            </a:r>
            <a:endParaRPr/>
          </a:p>
          <a:p>
            <a:pPr indent="-228600" lvl="0" marL="457200" marR="0" rtl="0" algn="l">
              <a:lnSpc>
                <a:spcPct val="100000"/>
              </a:lnSpc>
              <a:spcBef>
                <a:spcPts val="0"/>
              </a:spcBef>
              <a:spcAft>
                <a:spcPts val="0"/>
              </a:spcAft>
              <a:buClr>
                <a:schemeClr val="dk1"/>
              </a:buClr>
              <a:buSzPts val="1500"/>
              <a:buFont typeface="Calibri"/>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Font typeface="Arial"/>
              <a:buAutoNum type="arabicPeriod"/>
            </a:pPr>
            <a:r>
              <a:rPr lang="en-US"/>
              <a:t>Hurricanes intensify by drawing heat energy from the ocean, Strong ocean mixing by a hurricane’s winds brings cooler water to the surface, decreasing the heat energy available to the hurricane</a:t>
            </a:r>
            <a:endParaRPr/>
          </a:p>
          <a:p>
            <a:pPr indent="-228600" lvl="0" marL="457200" rtl="0" algn="l">
              <a:lnSpc>
                <a:spcPct val="100000"/>
              </a:lnSpc>
              <a:spcBef>
                <a:spcPts val="0"/>
              </a:spcBef>
              <a:spcAft>
                <a:spcPts val="0"/>
              </a:spcAft>
              <a:buSzPts val="1400"/>
              <a:buFont typeface="Arial"/>
              <a:buAutoNum type="arabicPeriod"/>
            </a:pPr>
            <a:r>
              <a:rPr lang="en-US"/>
              <a:t>Air deployable LCP application</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p:txBody>
      </p:sp>
      <p:sp>
        <p:nvSpPr>
          <p:cNvPr id="181" name="Google Shape;18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a:p>
            <a:pPr indent="-349250" lvl="0" marL="457200" rtl="0" algn="l">
              <a:lnSpc>
                <a:spcPct val="100000"/>
              </a:lnSpc>
              <a:spcBef>
                <a:spcPts val="0"/>
              </a:spcBef>
              <a:spcAft>
                <a:spcPts val="0"/>
              </a:spcAft>
              <a:buSzPts val="1900"/>
              <a:buFont typeface="Times New Roman"/>
              <a:buAutoNum type="arabicParenBoth"/>
            </a:pPr>
            <a:r>
              <a:rPr lang="en-US" sz="1900">
                <a:latin typeface="Times New Roman"/>
                <a:ea typeface="Times New Roman"/>
                <a:cs typeface="Times New Roman"/>
                <a:sym typeface="Times New Roman"/>
              </a:rPr>
              <a:t>Improve understanding of regional oceanography and (2) support fishing industry with predictive tools that may help  reduce halibut bycatch</a:t>
            </a:r>
            <a:endParaRPr/>
          </a:p>
          <a:p>
            <a:pPr indent="-349250" lvl="0" marL="457200" marR="0" rtl="0" algn="l">
              <a:lnSpc>
                <a:spcPct val="100000"/>
              </a:lnSpc>
              <a:spcBef>
                <a:spcPts val="0"/>
              </a:spcBef>
              <a:spcAft>
                <a:spcPts val="0"/>
              </a:spcAft>
              <a:buClr>
                <a:srgbClr val="000000"/>
              </a:buClr>
              <a:buSzPts val="1900"/>
              <a:buFont typeface="Times New Roman"/>
              <a:buAutoNum type="arabicParenBoth"/>
            </a:pPr>
            <a:r>
              <a:rPr lang="en-US" sz="2000">
                <a:latin typeface="Times New Roman"/>
                <a:ea typeface="Times New Roman"/>
                <a:cs typeface="Times New Roman"/>
                <a:sym typeface="Times New Roman"/>
              </a:rPr>
              <a:t>Yellowfin sole arrive earlier in colder water than halibut. To avoid halibut bi-catch it is necessary to predict </a:t>
            </a:r>
            <a:r>
              <a:rPr i="1" lang="en-US" sz="2000">
                <a:solidFill>
                  <a:srgbClr val="C00000"/>
                </a:solidFill>
                <a:latin typeface="Times New Roman"/>
                <a:ea typeface="Times New Roman"/>
                <a:cs typeface="Times New Roman"/>
                <a:sym typeface="Times New Roman"/>
              </a:rPr>
              <a:t>(or measure) </a:t>
            </a:r>
            <a:r>
              <a:rPr lang="en-US" sz="2000">
                <a:latin typeface="Times New Roman"/>
                <a:ea typeface="Times New Roman"/>
                <a:cs typeface="Times New Roman"/>
                <a:sym typeface="Times New Roman"/>
              </a:rPr>
              <a:t>bottom temperatures. Allowing fishing vessels to arrive at fishing grounds when bottom temperatures are more optimal for yellowfin sole and </a:t>
            </a:r>
            <a:r>
              <a:rPr lang="en-US" sz="2000" u="sng">
                <a:latin typeface="Times New Roman"/>
                <a:ea typeface="Times New Roman"/>
                <a:cs typeface="Times New Roman"/>
                <a:sym typeface="Times New Roman"/>
              </a:rPr>
              <a:t>less</a:t>
            </a:r>
            <a:r>
              <a:rPr lang="en-US" sz="2000">
                <a:latin typeface="Times New Roman"/>
                <a:ea typeface="Times New Roman"/>
                <a:cs typeface="Times New Roman"/>
                <a:sym typeface="Times New Roman"/>
              </a:rPr>
              <a:t> optimal halibut</a:t>
            </a:r>
            <a:endParaRPr sz="1900">
              <a:latin typeface="Times New Roman"/>
              <a:ea typeface="Times New Roman"/>
              <a:cs typeface="Times New Roman"/>
              <a:sym typeface="Times New Roman"/>
            </a:endParaRPr>
          </a:p>
          <a:p>
            <a:pPr indent="-349250" lvl="0" marL="457200" rtl="0" algn="l">
              <a:lnSpc>
                <a:spcPct val="100000"/>
              </a:lnSpc>
              <a:spcBef>
                <a:spcPts val="0"/>
              </a:spcBef>
              <a:spcAft>
                <a:spcPts val="0"/>
              </a:spcAft>
              <a:buSzPts val="1900"/>
              <a:buFont typeface="Times New Roman"/>
              <a:buAutoNum type="arabicParenBoth"/>
            </a:pPr>
            <a:r>
              <a:rPr lang="en-US" sz="1900">
                <a:latin typeface="Times New Roman"/>
                <a:ea typeface="Times New Roman"/>
                <a:cs typeface="Times New Roman"/>
                <a:sym typeface="Times New Roman"/>
              </a:rPr>
              <a:t>Application for moored LCP, will trial this technology in Fall 2025</a:t>
            </a:r>
            <a:endParaRPr/>
          </a:p>
          <a:p>
            <a:pPr indent="-228600" lvl="0" marL="457200" rtl="0" algn="l">
              <a:lnSpc>
                <a:spcPct val="100000"/>
              </a:lnSpc>
              <a:spcBef>
                <a:spcPts val="0"/>
              </a:spcBef>
              <a:spcAft>
                <a:spcPts val="0"/>
              </a:spcAft>
              <a:buSzPts val="1900"/>
              <a:buFont typeface="Times New Roman"/>
              <a:buNone/>
            </a:pPr>
            <a:r>
              <a:t/>
            </a:r>
            <a:endParaRPr sz="1900">
              <a:latin typeface="Times New Roman"/>
              <a:ea typeface="Times New Roman"/>
              <a:cs typeface="Times New Roman"/>
              <a:sym typeface="Times New Roman"/>
            </a:endParaRPr>
          </a:p>
          <a:p>
            <a:pPr indent="-349250" lvl="0" marL="457200" rtl="0" algn="l">
              <a:lnSpc>
                <a:spcPct val="100000"/>
              </a:lnSpc>
              <a:spcBef>
                <a:spcPts val="0"/>
              </a:spcBef>
              <a:spcAft>
                <a:spcPts val="0"/>
              </a:spcAft>
              <a:buSzPts val="1900"/>
              <a:buFont typeface="Times New Roman"/>
              <a:buAutoNum type="arabicParenBoth"/>
            </a:pPr>
            <a:r>
              <a:rPr b="0" i="0" lang="en-US" sz="1200" u="none" cap="none" strike="noStrike">
                <a:solidFill>
                  <a:schemeClr val="dk1"/>
                </a:solidFill>
                <a:latin typeface="Calibri"/>
                <a:ea typeface="Calibri"/>
                <a:cs typeface="Calibri"/>
                <a:sym typeface="Calibri"/>
              </a:rPr>
              <a:t> S = Spring when Yellowfin arrive on the inner shelf while temps are too cold for halibut. As things warm the fleet needs to move to colder water to avoid catching the halibut. Yellowfin move to deeper water if fall (F) and winter (W)</a:t>
            </a:r>
            <a:endParaRPr/>
          </a:p>
          <a:p>
            <a:pPr indent="-228600" lvl="0" marL="457200" marR="0" rtl="0" algn="l">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Clr>
                <a:schemeClr val="dk1"/>
              </a:buClr>
              <a:buSzPts val="1200"/>
              <a:buFont typeface="Arial"/>
              <a:buChar char="•"/>
            </a:pPr>
            <a:r>
              <a:rPr lang="en-US"/>
              <a:t>Design is proven in PMEL pressure vessel and NOAA Dive Tower</a:t>
            </a:r>
            <a:endParaRPr/>
          </a:p>
          <a:p>
            <a:pPr indent="-171450" lvl="0" marL="171450" rtl="0" algn="l">
              <a:lnSpc>
                <a:spcPct val="100000"/>
              </a:lnSpc>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Moored in Puget Sound</a:t>
            </a:r>
            <a:endParaRPr/>
          </a:p>
          <a:p>
            <a:pPr indent="-171450" lvl="0" marL="171450" rtl="0" algn="l">
              <a:lnSpc>
                <a:spcPct val="100000"/>
              </a:lnSpc>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Next Steps = Secure funding for 2 focus areas for continued LCP tech development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10" name="Google Shape;210;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27000" lvl="0" marL="228600" marR="0" rtl="0" algn="l">
              <a:lnSpc>
                <a:spcPct val="100000"/>
              </a:lnSpc>
              <a:spcBef>
                <a:spcPts val="0"/>
              </a:spcBef>
              <a:spcAft>
                <a:spcPts val="0"/>
              </a:spcAft>
              <a:buClr>
                <a:schemeClr val="dk1"/>
              </a:buClr>
              <a:buSzPts val="1600"/>
              <a:buFont typeface="Calibri"/>
              <a:buNone/>
            </a:pPr>
            <a:r>
              <a:t/>
            </a:r>
            <a:endParaRPr b="0" i="0" sz="1200" u="none" cap="none" strike="noStrike">
              <a:solidFill>
                <a:schemeClr val="dk1"/>
              </a:solidFill>
              <a:latin typeface="Calibri"/>
              <a:ea typeface="Calibri"/>
              <a:cs typeface="Calibri"/>
              <a:sym typeface="Calibri"/>
            </a:endParaRPr>
          </a:p>
          <a:p>
            <a:pPr indent="-228600" lvl="0" marL="228600" marR="0" rtl="0" algn="l">
              <a:lnSpc>
                <a:spcPct val="100000"/>
              </a:lnSpc>
              <a:spcBef>
                <a:spcPts val="0"/>
              </a:spcBef>
              <a:spcAft>
                <a:spcPts val="0"/>
              </a:spcAft>
              <a:buClr>
                <a:schemeClr val="dk1"/>
              </a:buClr>
              <a:buSzPts val="1600"/>
              <a:buFont typeface="Calibri"/>
              <a:buAutoNum type="arabicPeriod"/>
            </a:pPr>
            <a:r>
              <a:rPr b="0" i="0" lang="en-US" sz="1200" u="none" cap="none" strike="noStrike">
                <a:solidFill>
                  <a:schemeClr val="dk1"/>
                </a:solidFill>
                <a:latin typeface="Calibri"/>
                <a:ea typeface="Calibri"/>
                <a:cs typeface="Calibri"/>
                <a:sym typeface="Calibri"/>
              </a:rPr>
              <a:t>Use LCP as a pilot for </a:t>
            </a:r>
            <a:r>
              <a:rPr lang="en-US"/>
              <a:t>Open Source</a:t>
            </a:r>
            <a:r>
              <a:rPr b="0" i="0" lang="en-US" sz="1200" u="none" cap="none" strike="noStrike">
                <a:solidFill>
                  <a:schemeClr val="dk1"/>
                </a:solidFill>
                <a:latin typeface="Calibri"/>
                <a:ea typeface="Calibri"/>
                <a:cs typeface="Calibri"/>
                <a:sym typeface="Calibri"/>
              </a:rPr>
              <a:t> approach</a:t>
            </a:r>
            <a:endParaRPr/>
          </a:p>
          <a:p>
            <a:pPr indent="-228600" lvl="1" marL="685800" marR="0" rtl="0" algn="l">
              <a:lnSpc>
                <a:spcPct val="100000"/>
              </a:lnSpc>
              <a:spcBef>
                <a:spcPts val="0"/>
              </a:spcBef>
              <a:spcAft>
                <a:spcPts val="0"/>
              </a:spcAft>
              <a:buClr>
                <a:schemeClr val="dk1"/>
              </a:buClr>
              <a:buSzPts val="1600"/>
              <a:buFont typeface="Calibri"/>
              <a:buAutoNum type="arabicPeriod"/>
            </a:pPr>
            <a:r>
              <a:rPr b="0" i="0" lang="en-US" sz="1200" u="none" cap="none" strike="noStrike">
                <a:solidFill>
                  <a:schemeClr val="dk1"/>
                </a:solidFill>
                <a:latin typeface="Calibri"/>
                <a:ea typeface="Calibri"/>
                <a:cs typeface="Calibri"/>
                <a:sym typeface="Calibri"/>
              </a:rPr>
              <a:t>Tool is </a:t>
            </a:r>
            <a:r>
              <a:rPr b="1" i="0" lang="en-US" sz="1200" u="sng" cap="none" strike="noStrike">
                <a:solidFill>
                  <a:schemeClr val="dk1"/>
                </a:solidFill>
                <a:latin typeface="Calibri"/>
                <a:ea typeface="Calibri"/>
                <a:cs typeface="Calibri"/>
                <a:sym typeface="Calibri"/>
              </a:rPr>
              <a:t>not very useful if it is not available</a:t>
            </a:r>
            <a:r>
              <a:rPr b="0" i="0" lang="en-US" sz="1200" u="none" cap="none" strike="noStrike">
                <a:solidFill>
                  <a:schemeClr val="dk1"/>
                </a:solidFill>
                <a:latin typeface="Calibri"/>
                <a:ea typeface="Calibri"/>
                <a:cs typeface="Calibri"/>
                <a:sym typeface="Calibri"/>
              </a:rPr>
              <a:t>, how do we rapidly get the LCP technology into the hands of the broader scientific community?</a:t>
            </a:r>
            <a:endParaRPr/>
          </a:p>
          <a:p>
            <a:pPr indent="-228600" lvl="1" marL="685800" marR="0" rtl="0" algn="l">
              <a:lnSpc>
                <a:spcPct val="100000"/>
              </a:lnSpc>
              <a:spcBef>
                <a:spcPts val="0"/>
              </a:spcBef>
              <a:spcAft>
                <a:spcPts val="0"/>
              </a:spcAft>
              <a:buClr>
                <a:schemeClr val="dk1"/>
              </a:buClr>
              <a:buSzPts val="1600"/>
              <a:buFont typeface="Calibri"/>
              <a:buAutoNum type="arabicPeriod"/>
            </a:pPr>
            <a:r>
              <a:rPr b="0" i="0" lang="en-US" sz="1200" u="none" cap="none" strike="noStrike">
                <a:solidFill>
                  <a:schemeClr val="dk1"/>
                </a:solidFill>
                <a:latin typeface="Calibri"/>
                <a:ea typeface="Calibri"/>
                <a:cs typeface="Calibri"/>
                <a:sym typeface="Calibri"/>
              </a:rPr>
              <a:t>Problem= Ocean observing technology development life cycles are </a:t>
            </a:r>
            <a:r>
              <a:rPr b="1" i="0" lang="en-US" sz="1200" u="none" cap="none" strike="noStrike">
                <a:solidFill>
                  <a:schemeClr val="dk1"/>
                </a:solidFill>
                <a:latin typeface="Calibri"/>
                <a:ea typeface="Calibri"/>
                <a:cs typeface="Calibri"/>
                <a:sym typeface="Calibri"/>
              </a:rPr>
              <a:t>too long</a:t>
            </a:r>
            <a:r>
              <a:rPr b="0" i="0" lang="en-US" sz="1200" u="none" cap="none" strike="noStrike">
                <a:solidFill>
                  <a:schemeClr val="dk1"/>
                </a:solidFill>
                <a:latin typeface="Calibri"/>
                <a:ea typeface="Calibri"/>
                <a:cs typeface="Calibri"/>
                <a:sym typeface="Calibri"/>
              </a:rPr>
              <a:t>!</a:t>
            </a:r>
            <a:endParaRPr/>
          </a:p>
          <a:p>
            <a:pPr indent="-228600" lvl="1" marL="685800" marR="0" rtl="0" algn="l">
              <a:lnSpc>
                <a:spcPct val="100000"/>
              </a:lnSpc>
              <a:spcBef>
                <a:spcPts val="0"/>
              </a:spcBef>
              <a:spcAft>
                <a:spcPts val="0"/>
              </a:spcAft>
              <a:buClr>
                <a:schemeClr val="dk1"/>
              </a:buClr>
              <a:buSzPts val="1600"/>
              <a:buFont typeface="Calibri"/>
              <a:buAutoNum type="arabicPeriod"/>
            </a:pPr>
            <a:r>
              <a:rPr b="0" i="0" lang="en-US" sz="1200" u="none" cap="none" strike="noStrike">
                <a:solidFill>
                  <a:schemeClr val="dk1"/>
                </a:solidFill>
                <a:latin typeface="Calibri"/>
                <a:ea typeface="Calibri"/>
                <a:cs typeface="Calibri"/>
                <a:sym typeface="Calibri"/>
              </a:rPr>
              <a:t>Problem= Traditional commercialization path can result in </a:t>
            </a:r>
            <a:r>
              <a:rPr b="1" i="0" lang="en-US" sz="1200" u="none" cap="none" strike="noStrike">
                <a:solidFill>
                  <a:schemeClr val="dk1"/>
                </a:solidFill>
                <a:latin typeface="Calibri"/>
                <a:ea typeface="Calibri"/>
                <a:cs typeface="Calibri"/>
                <a:sym typeface="Calibri"/>
              </a:rPr>
              <a:t>expensive</a:t>
            </a:r>
            <a:r>
              <a:rPr b="0" i="0" lang="en-US" sz="1200" u="none" cap="none" strike="noStrike">
                <a:solidFill>
                  <a:schemeClr val="dk1"/>
                </a:solidFill>
                <a:latin typeface="Calibri"/>
                <a:ea typeface="Calibri"/>
                <a:cs typeface="Calibri"/>
                <a:sym typeface="Calibri"/>
              </a:rPr>
              <a:t> products that receive </a:t>
            </a:r>
            <a:r>
              <a:rPr b="1" i="0" lang="en-US" sz="1200" u="none" cap="none" strike="noStrike">
                <a:solidFill>
                  <a:schemeClr val="dk1"/>
                </a:solidFill>
                <a:latin typeface="Calibri"/>
                <a:ea typeface="Calibri"/>
                <a:cs typeface="Calibri"/>
                <a:sym typeface="Calibri"/>
              </a:rPr>
              <a:t>inadequate sustained development support</a:t>
            </a:r>
            <a:endParaRPr/>
          </a:p>
          <a:p>
            <a:pPr indent="-228600" lvl="1" marL="685800" marR="0" rtl="0" algn="l">
              <a:lnSpc>
                <a:spcPct val="100000"/>
              </a:lnSpc>
              <a:spcBef>
                <a:spcPts val="0"/>
              </a:spcBef>
              <a:spcAft>
                <a:spcPts val="0"/>
              </a:spcAft>
              <a:buClr>
                <a:schemeClr val="dk1"/>
              </a:buClr>
              <a:buSzPts val="1600"/>
              <a:buFont typeface="Calibri"/>
              <a:buAutoNum type="arabicPeriod"/>
            </a:pPr>
            <a:r>
              <a:rPr b="0" i="0" lang="en-US" sz="1200" u="none" cap="none" strike="noStrike">
                <a:solidFill>
                  <a:schemeClr val="dk1"/>
                </a:solidFill>
                <a:latin typeface="Calibri"/>
                <a:ea typeface="Calibri"/>
                <a:cs typeface="Calibri"/>
                <a:sym typeface="Calibri"/>
              </a:rPr>
              <a:t>Problem = Sole source single points of failure =products often dropped due to lack of adequate commercial sales</a:t>
            </a:r>
            <a:endParaRPr/>
          </a:p>
          <a:p>
            <a:pPr indent="-127000" lvl="1" marL="685800" marR="0" rtl="0" algn="l">
              <a:lnSpc>
                <a:spcPct val="100000"/>
              </a:lnSpc>
              <a:spcBef>
                <a:spcPts val="0"/>
              </a:spcBef>
              <a:spcAft>
                <a:spcPts val="0"/>
              </a:spcAft>
              <a:buClr>
                <a:schemeClr val="dk1"/>
              </a:buClr>
              <a:buSzPts val="1600"/>
              <a:buFont typeface="Calibri"/>
              <a:buNone/>
            </a:pPr>
            <a:r>
              <a:t/>
            </a:r>
            <a:endParaRPr b="0" i="0" sz="1200" u="none" cap="none" strike="noStrike">
              <a:solidFill>
                <a:schemeClr val="dk1"/>
              </a:solidFill>
              <a:latin typeface="Calibri"/>
              <a:ea typeface="Calibri"/>
              <a:cs typeface="Calibri"/>
              <a:sym typeface="Calibri"/>
            </a:endParaRPr>
          </a:p>
          <a:p>
            <a:pPr indent="-127000" lvl="1" marL="685800" marR="0" rtl="0" algn="l">
              <a:lnSpc>
                <a:spcPct val="100000"/>
              </a:lnSpc>
              <a:spcBef>
                <a:spcPts val="0"/>
              </a:spcBef>
              <a:spcAft>
                <a:spcPts val="0"/>
              </a:spcAft>
              <a:buClr>
                <a:schemeClr val="dk1"/>
              </a:buClr>
              <a:buSzPts val="1600"/>
              <a:buFont typeface="Calibri"/>
              <a:buNone/>
            </a:pPr>
            <a:r>
              <a:t/>
            </a:r>
            <a:endParaRPr b="0" i="0" sz="1200" u="none" cap="none" strike="noStrike">
              <a:solidFill>
                <a:schemeClr val="dk1"/>
              </a:solidFill>
              <a:latin typeface="Calibri"/>
              <a:ea typeface="Calibri"/>
              <a:cs typeface="Calibri"/>
              <a:sym typeface="Calibri"/>
            </a:endParaRPr>
          </a:p>
          <a:p>
            <a:pPr indent="-228600" lvl="0" marL="228600" rtl="0" algn="l">
              <a:lnSpc>
                <a:spcPct val="100000"/>
              </a:lnSpc>
              <a:spcBef>
                <a:spcPts val="0"/>
              </a:spcBef>
              <a:spcAft>
                <a:spcPts val="0"/>
              </a:spcAft>
              <a:buClr>
                <a:schemeClr val="dk1"/>
              </a:buClr>
              <a:buSzPts val="1200"/>
              <a:buFont typeface="Calibri"/>
              <a:buAutoNum type="arabicPeriod"/>
            </a:pPr>
            <a:r>
              <a:rPr b="0" i="0" lang="en-US" sz="1200" u="none" cap="none" strike="noStrike">
                <a:solidFill>
                  <a:schemeClr val="dk1"/>
                </a:solidFill>
                <a:latin typeface="Calibri"/>
                <a:ea typeface="Calibri"/>
                <a:cs typeface="Calibri"/>
                <a:sym typeface="Calibri"/>
              </a:rPr>
              <a:t>Have been </a:t>
            </a:r>
            <a:r>
              <a:rPr b="1" i="0" lang="en-US" sz="1200" u="none" cap="none" strike="noStrike">
                <a:solidFill>
                  <a:schemeClr val="dk1"/>
                </a:solidFill>
                <a:latin typeface="Calibri"/>
                <a:ea typeface="Calibri"/>
                <a:cs typeface="Calibri"/>
                <a:sym typeface="Calibri"/>
              </a:rPr>
              <a:t>working with NOAA’s Tech Partnership office </a:t>
            </a:r>
            <a:r>
              <a:rPr b="0" i="0" lang="en-US" sz="1200" u="none" cap="none" strike="noStrike">
                <a:solidFill>
                  <a:schemeClr val="dk1"/>
                </a:solidFill>
                <a:latin typeface="Calibri"/>
                <a:ea typeface="Calibri"/>
                <a:cs typeface="Calibri"/>
                <a:sym typeface="Calibri"/>
              </a:rPr>
              <a:t>to:</a:t>
            </a:r>
            <a:endParaRPr/>
          </a:p>
          <a:p>
            <a:pPr indent="-228600" lvl="1" marL="685800" rtl="0" algn="l">
              <a:lnSpc>
                <a:spcPct val="100000"/>
              </a:lnSpc>
              <a:spcBef>
                <a:spcPts val="0"/>
              </a:spcBef>
              <a:spcAft>
                <a:spcPts val="0"/>
              </a:spcAft>
              <a:buClr>
                <a:schemeClr val="dk1"/>
              </a:buClr>
              <a:buSzPts val="1200"/>
              <a:buFont typeface="Calibri"/>
              <a:buAutoNum type="arabicPeriod"/>
            </a:pPr>
            <a:r>
              <a:rPr b="0" i="0" lang="en-US" sz="1200" u="none" cap="none" strike="noStrike">
                <a:solidFill>
                  <a:schemeClr val="dk1"/>
                </a:solidFill>
                <a:latin typeface="Calibri"/>
                <a:ea typeface="Calibri"/>
                <a:cs typeface="Calibri"/>
                <a:sym typeface="Calibri"/>
              </a:rPr>
              <a:t>Generate open source hardware license</a:t>
            </a:r>
            <a:endParaRPr/>
          </a:p>
          <a:p>
            <a:pPr indent="-228600" lvl="1" marL="685800" rtl="0" algn="l">
              <a:lnSpc>
                <a:spcPct val="100000"/>
              </a:lnSpc>
              <a:spcBef>
                <a:spcPts val="0"/>
              </a:spcBef>
              <a:spcAft>
                <a:spcPts val="0"/>
              </a:spcAft>
              <a:buClr>
                <a:schemeClr val="dk1"/>
              </a:buClr>
              <a:buSzPts val="1200"/>
              <a:buFont typeface="Calibri"/>
              <a:buAutoNum type="arabicPeriod"/>
            </a:pPr>
            <a:r>
              <a:rPr b="0" i="0" lang="en-US" sz="1200" u="none" cap="none" strike="noStrike">
                <a:solidFill>
                  <a:schemeClr val="dk1"/>
                </a:solidFill>
                <a:latin typeface="Calibri"/>
                <a:ea typeface="Calibri"/>
                <a:cs typeface="Calibri"/>
                <a:sym typeface="Calibri"/>
              </a:rPr>
              <a:t>Develop an </a:t>
            </a:r>
            <a:r>
              <a:rPr lang="en-US"/>
              <a:t>open source</a:t>
            </a:r>
            <a:r>
              <a:rPr b="0" i="0" lang="en-US" sz="1200" u="none" cap="none" strike="noStrike">
                <a:solidFill>
                  <a:schemeClr val="dk1"/>
                </a:solidFill>
                <a:latin typeface="Calibri"/>
                <a:ea typeface="Calibri"/>
                <a:cs typeface="Calibri"/>
                <a:sym typeface="Calibri"/>
              </a:rPr>
              <a:t> technology transfer pathway in NOAA</a:t>
            </a:r>
            <a:endParaRPr/>
          </a:p>
          <a:p>
            <a:pPr indent="-228600" lvl="1" marL="685800" rtl="0" algn="l">
              <a:lnSpc>
                <a:spcPct val="100000"/>
              </a:lnSpc>
              <a:spcBef>
                <a:spcPts val="0"/>
              </a:spcBef>
              <a:spcAft>
                <a:spcPts val="0"/>
              </a:spcAft>
              <a:buClr>
                <a:schemeClr val="dk1"/>
              </a:buClr>
              <a:buSzPts val="1200"/>
              <a:buFont typeface="Calibri"/>
              <a:buAutoNum type="arabicPeriod"/>
            </a:pPr>
            <a:r>
              <a:rPr b="0" i="0" lang="en-US" sz="1200" u="none" cap="none" strike="noStrike">
                <a:solidFill>
                  <a:schemeClr val="dk1"/>
                </a:solidFill>
                <a:latin typeface="Calibri"/>
                <a:ea typeface="Calibri"/>
                <a:cs typeface="Calibri"/>
                <a:sym typeface="Calibri"/>
              </a:rPr>
              <a:t>Obtain permission to </a:t>
            </a:r>
            <a:r>
              <a:rPr lang="en-US"/>
              <a:t>open source</a:t>
            </a:r>
            <a:endParaRPr/>
          </a:p>
          <a:p>
            <a:pPr indent="-228600" lvl="0" marL="228600" rtl="0" algn="l">
              <a:lnSpc>
                <a:spcPct val="100000"/>
              </a:lnSpc>
              <a:spcBef>
                <a:spcPts val="0"/>
              </a:spcBef>
              <a:spcAft>
                <a:spcPts val="0"/>
              </a:spcAft>
              <a:buClr>
                <a:schemeClr val="dk1"/>
              </a:buClr>
              <a:buSzPts val="1200"/>
              <a:buFont typeface="Arial"/>
              <a:buAutoNum type="arabicPeriod"/>
            </a:pPr>
            <a:r>
              <a:rPr lang="en-US"/>
              <a:t>MBARI has had a lot of luck with contract manufacturers producing complicated ocean sensors (pH), could be a solution to providing community with a source, this is what they are good at. Community ecosystem could then provide buying power, functionality upgrades</a:t>
            </a:r>
            <a:endParaRPr b="0" i="0" sz="1200" u="none" cap="none" strike="noStrike">
              <a:solidFill>
                <a:schemeClr val="dk1"/>
              </a:solidFill>
              <a:latin typeface="Calibri"/>
              <a:ea typeface="Calibri"/>
              <a:cs typeface="Calibri"/>
              <a:sym typeface="Calibri"/>
            </a:endParaRPr>
          </a:p>
          <a:p>
            <a:pPr indent="-228600" lvl="0" marL="228600" rtl="0" algn="l">
              <a:lnSpc>
                <a:spcPct val="100000"/>
              </a:lnSpc>
              <a:spcBef>
                <a:spcPts val="0"/>
              </a:spcBef>
              <a:spcAft>
                <a:spcPts val="0"/>
              </a:spcAft>
              <a:buClr>
                <a:schemeClr val="dk1"/>
              </a:buClr>
              <a:buSzPts val="1200"/>
              <a:buFont typeface="Calibri"/>
              <a:buAutoNum type="arabicPeriod"/>
            </a:pPr>
            <a:r>
              <a:rPr b="1" i="0" lang="en-US" sz="1200" u="none" cap="none" strike="noStrike">
                <a:solidFill>
                  <a:schemeClr val="dk1"/>
                </a:solidFill>
                <a:latin typeface="Calibri"/>
                <a:ea typeface="Calibri"/>
                <a:cs typeface="Calibri"/>
                <a:sym typeface="Calibri"/>
              </a:rPr>
              <a:t>Risk = Do not know if it will work</a:t>
            </a:r>
            <a:r>
              <a:rPr b="0" i="0" lang="en-US" sz="1200" u="none" cap="none" strike="noStrike">
                <a:solidFill>
                  <a:schemeClr val="dk1"/>
                </a:solidFill>
                <a:latin typeface="Calibri"/>
                <a:ea typeface="Calibri"/>
                <a:cs typeface="Calibri"/>
                <a:sym typeface="Calibri"/>
              </a:rPr>
              <a:t>.</a:t>
            </a:r>
            <a:endParaRPr/>
          </a:p>
          <a:p>
            <a:pPr indent="0" lvl="0" marL="0" marR="0" rtl="0" algn="l">
              <a:lnSpc>
                <a:spcPct val="100000"/>
              </a:lnSpc>
              <a:spcBef>
                <a:spcPts val="0"/>
              </a:spcBef>
              <a:spcAft>
                <a:spcPts val="0"/>
              </a:spcAft>
              <a:buClr>
                <a:schemeClr val="dk1"/>
              </a:buClr>
              <a:buSzPts val="1600"/>
              <a:buFont typeface="Calibri"/>
              <a:buNone/>
            </a:pPr>
            <a:r>
              <a:t/>
            </a:r>
            <a:endParaRPr/>
          </a:p>
        </p:txBody>
      </p:sp>
      <p:sp>
        <p:nvSpPr>
          <p:cNvPr id="223" name="Google Shape;223;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1" marL="45720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76200" lvl="1" marL="457200" rtl="0" algn="l">
              <a:lnSpc>
                <a:spcPct val="100000"/>
              </a:lnSpc>
              <a:spcBef>
                <a:spcPts val="0"/>
              </a:spcBef>
              <a:spcAft>
                <a:spcPts val="0"/>
              </a:spcAft>
              <a:buClr>
                <a:schemeClr val="dk1"/>
              </a:buClr>
              <a:buSzPts val="1200"/>
              <a:buFont typeface="Calibri"/>
              <a:buAutoNum type="arabicPeriod"/>
            </a:pPr>
            <a:r>
              <a:rPr b="0" i="0" lang="en-US" sz="1200" u="none" cap="none" strike="noStrike">
                <a:solidFill>
                  <a:schemeClr val="dk1"/>
                </a:solidFill>
                <a:latin typeface="Calibri"/>
                <a:ea typeface="Calibri"/>
                <a:cs typeface="Calibri"/>
                <a:sym typeface="Calibri"/>
              </a:rPr>
              <a:t>Thank you!</a:t>
            </a:r>
            <a:endParaRPr/>
          </a:p>
        </p:txBody>
      </p:sp>
      <p:sp>
        <p:nvSpPr>
          <p:cNvPr id="233" name="Google Shape;23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The LCP uses a direct-drive buoyancy engine to reduce mechanical complexity</a:t>
            </a:r>
            <a:endParaRPr/>
          </a:p>
          <a:p>
            <a:pPr indent="-171450" lvl="0" marL="171450" rtl="0" algn="l">
              <a:lnSpc>
                <a:spcPct val="100000"/>
              </a:lnSpc>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And a commodity pressure housing taken from the industrial pneumatics industry</a:t>
            </a:r>
            <a:endParaRPr/>
          </a:p>
          <a:p>
            <a:pPr indent="-95250" lvl="0" marL="171450" rtl="0" algn="l">
              <a:lnSpc>
                <a:spcPct val="100000"/>
              </a:lnSpc>
              <a:spcBef>
                <a:spcPts val="0"/>
              </a:spcBef>
              <a:spcAft>
                <a:spcPts val="0"/>
              </a:spcAft>
              <a:buClr>
                <a:schemeClr val="dk1"/>
              </a:buClr>
              <a:buSzPts val="12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First row of colored circles indicates float deployment locations. Subsequent circles show surfacing locations of the floats, with colors indicating measured SST as the hurricane passed.</a:t>
            </a:r>
            <a:endParaRPr/>
          </a:p>
        </p:txBody>
      </p:sp>
      <p:sp>
        <p:nvSpPr>
          <p:cNvPr id="248" name="Google Shape;248;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65" name="Google Shape;265;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1_Title Only">
    <p:spTree>
      <p:nvGrpSpPr>
        <p:cNvPr id="21" name="Shape 21"/>
        <p:cNvGrpSpPr/>
        <p:nvPr/>
      </p:nvGrpSpPr>
      <p:grpSpPr>
        <a:xfrm>
          <a:off x="0" y="0"/>
          <a:ext cx="0" cy="0"/>
          <a:chOff x="0" y="0"/>
          <a:chExt cx="0" cy="0"/>
        </a:xfrm>
      </p:grpSpPr>
      <p:sp>
        <p:nvSpPr>
          <p:cNvPr id="22" name="Google Shape;22;p19"/>
          <p:cNvSpPr txBox="1"/>
          <p:nvPr>
            <p:ph type="title"/>
          </p:nvPr>
        </p:nvSpPr>
        <p:spPr>
          <a:xfrm>
            <a:off x="1499287" y="1"/>
            <a:ext cx="10235600" cy="8764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rgbClr val="003087"/>
              </a:buClr>
              <a:buSzPts val="1100"/>
              <a:buFont typeface="PT Serif"/>
              <a:buNone/>
              <a:defRPr b="1" i="1">
                <a:solidFill>
                  <a:srgbClr val="003087"/>
                </a:solidFill>
                <a:latin typeface="PT Serif"/>
                <a:ea typeface="PT Serif"/>
                <a:cs typeface="PT Serif"/>
                <a:sym typeface="PT Serif"/>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 name="Google Shape;23;p19"/>
          <p:cNvSpPr txBox="1"/>
          <p:nvPr>
            <p:ph idx="10" type="dt"/>
          </p:nvPr>
        </p:nvSpPr>
        <p:spPr>
          <a:xfrm>
            <a:off x="457200" y="6582031"/>
            <a:ext cx="3124400" cy="2760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Clr>
                <a:srgbClr val="888888"/>
              </a:buClr>
              <a:buSzPts val="1100"/>
              <a:buFont typeface="Calibri"/>
              <a:buNone/>
              <a:defRPr/>
            </a:lvl1pPr>
            <a:lvl2pPr lvl="1" algn="l">
              <a:lnSpc>
                <a:spcPct val="100000"/>
              </a:lnSpc>
              <a:spcBef>
                <a:spcPts val="0"/>
              </a:spcBef>
              <a:spcAft>
                <a:spcPts val="0"/>
              </a:spcAft>
              <a:buClr>
                <a:schemeClr val="dk1"/>
              </a:buClr>
              <a:buSzPts val="1100"/>
              <a:buFont typeface="Calibri"/>
              <a:buNone/>
              <a:defRPr/>
            </a:lvl2pPr>
            <a:lvl3pPr lvl="2" algn="l">
              <a:lnSpc>
                <a:spcPct val="100000"/>
              </a:lnSpc>
              <a:spcBef>
                <a:spcPts val="0"/>
              </a:spcBef>
              <a:spcAft>
                <a:spcPts val="0"/>
              </a:spcAft>
              <a:buClr>
                <a:schemeClr val="dk1"/>
              </a:buClr>
              <a:buSzPts val="1100"/>
              <a:buFont typeface="Calibri"/>
              <a:buNone/>
              <a:defRPr/>
            </a:lvl3pPr>
            <a:lvl4pPr lvl="3" algn="l">
              <a:lnSpc>
                <a:spcPct val="100000"/>
              </a:lnSpc>
              <a:spcBef>
                <a:spcPts val="0"/>
              </a:spcBef>
              <a:spcAft>
                <a:spcPts val="0"/>
              </a:spcAft>
              <a:buClr>
                <a:schemeClr val="dk1"/>
              </a:buClr>
              <a:buSzPts val="1100"/>
              <a:buFont typeface="Calibri"/>
              <a:buNone/>
              <a:defRPr/>
            </a:lvl4pPr>
            <a:lvl5pPr lvl="4" algn="l">
              <a:lnSpc>
                <a:spcPct val="100000"/>
              </a:lnSpc>
              <a:spcBef>
                <a:spcPts val="0"/>
              </a:spcBef>
              <a:spcAft>
                <a:spcPts val="0"/>
              </a:spcAft>
              <a:buClr>
                <a:schemeClr val="dk1"/>
              </a:buClr>
              <a:buSzPts val="1100"/>
              <a:buFont typeface="Calibri"/>
              <a:buNone/>
              <a:defRPr/>
            </a:lvl5pPr>
            <a:lvl6pPr lvl="5" algn="l">
              <a:lnSpc>
                <a:spcPct val="100000"/>
              </a:lnSpc>
              <a:spcBef>
                <a:spcPts val="0"/>
              </a:spcBef>
              <a:spcAft>
                <a:spcPts val="0"/>
              </a:spcAft>
              <a:buClr>
                <a:schemeClr val="dk1"/>
              </a:buClr>
              <a:buSzPts val="1100"/>
              <a:buFont typeface="Calibri"/>
              <a:buNone/>
              <a:defRPr/>
            </a:lvl6pPr>
            <a:lvl7pPr lvl="6" algn="l">
              <a:lnSpc>
                <a:spcPct val="100000"/>
              </a:lnSpc>
              <a:spcBef>
                <a:spcPts val="0"/>
              </a:spcBef>
              <a:spcAft>
                <a:spcPts val="0"/>
              </a:spcAft>
              <a:buClr>
                <a:schemeClr val="dk1"/>
              </a:buClr>
              <a:buSzPts val="1100"/>
              <a:buFont typeface="Calibri"/>
              <a:buNone/>
              <a:defRPr/>
            </a:lvl7pPr>
            <a:lvl8pPr lvl="7" algn="l">
              <a:lnSpc>
                <a:spcPct val="100000"/>
              </a:lnSpc>
              <a:spcBef>
                <a:spcPts val="0"/>
              </a:spcBef>
              <a:spcAft>
                <a:spcPts val="0"/>
              </a:spcAft>
              <a:buClr>
                <a:schemeClr val="dk1"/>
              </a:buClr>
              <a:buSzPts val="1100"/>
              <a:buFont typeface="Calibri"/>
              <a:buNone/>
              <a:defRPr/>
            </a:lvl8pPr>
            <a:lvl9pPr lvl="8" algn="l">
              <a:lnSpc>
                <a:spcPct val="100000"/>
              </a:lnSpc>
              <a:spcBef>
                <a:spcPts val="0"/>
              </a:spcBef>
              <a:spcAft>
                <a:spcPts val="0"/>
              </a:spcAft>
              <a:buClr>
                <a:schemeClr val="dk1"/>
              </a:buClr>
              <a:buSzPts val="1100"/>
              <a:buFont typeface="Calibri"/>
              <a:buNone/>
              <a:defRPr/>
            </a:lvl9pPr>
          </a:lstStyle>
          <a:p/>
        </p:txBody>
      </p:sp>
      <p:sp>
        <p:nvSpPr>
          <p:cNvPr id="24" name="Google Shape;24;p19"/>
          <p:cNvSpPr txBox="1"/>
          <p:nvPr>
            <p:ph idx="11" type="ftr"/>
          </p:nvPr>
        </p:nvSpPr>
        <p:spPr>
          <a:xfrm>
            <a:off x="4038600" y="6582031"/>
            <a:ext cx="4114800" cy="2760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Clr>
                <a:srgbClr val="888888"/>
              </a:buClr>
              <a:buSzPts val="1100"/>
              <a:buFont typeface="Calibri"/>
              <a:buNone/>
              <a:defRPr/>
            </a:lvl1pPr>
            <a:lvl2pPr lvl="1" algn="l">
              <a:lnSpc>
                <a:spcPct val="100000"/>
              </a:lnSpc>
              <a:spcBef>
                <a:spcPts val="0"/>
              </a:spcBef>
              <a:spcAft>
                <a:spcPts val="0"/>
              </a:spcAft>
              <a:buClr>
                <a:schemeClr val="dk1"/>
              </a:buClr>
              <a:buSzPts val="1100"/>
              <a:buFont typeface="Calibri"/>
              <a:buNone/>
              <a:defRPr/>
            </a:lvl2pPr>
            <a:lvl3pPr lvl="2" algn="l">
              <a:lnSpc>
                <a:spcPct val="100000"/>
              </a:lnSpc>
              <a:spcBef>
                <a:spcPts val="0"/>
              </a:spcBef>
              <a:spcAft>
                <a:spcPts val="0"/>
              </a:spcAft>
              <a:buClr>
                <a:schemeClr val="dk1"/>
              </a:buClr>
              <a:buSzPts val="1100"/>
              <a:buFont typeface="Calibri"/>
              <a:buNone/>
              <a:defRPr/>
            </a:lvl3pPr>
            <a:lvl4pPr lvl="3" algn="l">
              <a:lnSpc>
                <a:spcPct val="100000"/>
              </a:lnSpc>
              <a:spcBef>
                <a:spcPts val="0"/>
              </a:spcBef>
              <a:spcAft>
                <a:spcPts val="0"/>
              </a:spcAft>
              <a:buClr>
                <a:schemeClr val="dk1"/>
              </a:buClr>
              <a:buSzPts val="1100"/>
              <a:buFont typeface="Calibri"/>
              <a:buNone/>
              <a:defRPr/>
            </a:lvl4pPr>
            <a:lvl5pPr lvl="4" algn="l">
              <a:lnSpc>
                <a:spcPct val="100000"/>
              </a:lnSpc>
              <a:spcBef>
                <a:spcPts val="0"/>
              </a:spcBef>
              <a:spcAft>
                <a:spcPts val="0"/>
              </a:spcAft>
              <a:buClr>
                <a:schemeClr val="dk1"/>
              </a:buClr>
              <a:buSzPts val="1100"/>
              <a:buFont typeface="Calibri"/>
              <a:buNone/>
              <a:defRPr/>
            </a:lvl5pPr>
            <a:lvl6pPr lvl="5" algn="l">
              <a:lnSpc>
                <a:spcPct val="100000"/>
              </a:lnSpc>
              <a:spcBef>
                <a:spcPts val="0"/>
              </a:spcBef>
              <a:spcAft>
                <a:spcPts val="0"/>
              </a:spcAft>
              <a:buClr>
                <a:schemeClr val="dk1"/>
              </a:buClr>
              <a:buSzPts val="1100"/>
              <a:buFont typeface="Calibri"/>
              <a:buNone/>
              <a:defRPr/>
            </a:lvl6pPr>
            <a:lvl7pPr lvl="6" algn="l">
              <a:lnSpc>
                <a:spcPct val="100000"/>
              </a:lnSpc>
              <a:spcBef>
                <a:spcPts val="0"/>
              </a:spcBef>
              <a:spcAft>
                <a:spcPts val="0"/>
              </a:spcAft>
              <a:buClr>
                <a:schemeClr val="dk1"/>
              </a:buClr>
              <a:buSzPts val="1100"/>
              <a:buFont typeface="Calibri"/>
              <a:buNone/>
              <a:defRPr/>
            </a:lvl7pPr>
            <a:lvl8pPr lvl="7" algn="l">
              <a:lnSpc>
                <a:spcPct val="100000"/>
              </a:lnSpc>
              <a:spcBef>
                <a:spcPts val="0"/>
              </a:spcBef>
              <a:spcAft>
                <a:spcPts val="0"/>
              </a:spcAft>
              <a:buClr>
                <a:schemeClr val="dk1"/>
              </a:buClr>
              <a:buSzPts val="1100"/>
              <a:buFont typeface="Calibri"/>
              <a:buNone/>
              <a:defRPr/>
            </a:lvl8pPr>
            <a:lvl9pPr lvl="8" algn="l">
              <a:lnSpc>
                <a:spcPct val="100000"/>
              </a:lnSpc>
              <a:spcBef>
                <a:spcPts val="0"/>
              </a:spcBef>
              <a:spcAft>
                <a:spcPts val="0"/>
              </a:spcAft>
              <a:buClr>
                <a:schemeClr val="dk1"/>
              </a:buClr>
              <a:buSzPts val="1100"/>
              <a:buFont typeface="Calibri"/>
              <a:buNone/>
              <a:defRPr/>
            </a:lvl9pPr>
          </a:lstStyle>
          <a:p/>
        </p:txBody>
      </p:sp>
      <p:sp>
        <p:nvSpPr>
          <p:cNvPr id="25" name="Google Shape;25;p19"/>
          <p:cNvSpPr txBox="1"/>
          <p:nvPr>
            <p:ph idx="12" type="sldNum"/>
          </p:nvPr>
        </p:nvSpPr>
        <p:spPr>
          <a:xfrm>
            <a:off x="8610600" y="6582031"/>
            <a:ext cx="3124400" cy="2760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1_Picture with Caption">
    <p:spTree>
      <p:nvGrpSpPr>
        <p:cNvPr id="26" name="Shape 26"/>
        <p:cNvGrpSpPr/>
        <p:nvPr/>
      </p:nvGrpSpPr>
      <p:grpSpPr>
        <a:xfrm>
          <a:off x="0" y="0"/>
          <a:ext cx="0" cy="0"/>
          <a:chOff x="0" y="0"/>
          <a:chExt cx="0" cy="0"/>
        </a:xfrm>
      </p:grpSpPr>
      <p:sp>
        <p:nvSpPr>
          <p:cNvPr id="27" name="Google Shape;27;p21"/>
          <p:cNvSpPr/>
          <p:nvPr>
            <p:ph idx="2" type="pic"/>
          </p:nvPr>
        </p:nvSpPr>
        <p:spPr>
          <a:xfrm>
            <a:off x="6096000" y="1592206"/>
            <a:ext cx="5403294" cy="4805386"/>
          </a:xfrm>
          <a:prstGeom prst="rect">
            <a:avLst/>
          </a:prstGeom>
          <a:noFill/>
          <a:ln>
            <a:noFill/>
          </a:ln>
        </p:spPr>
      </p:sp>
      <p:sp>
        <p:nvSpPr>
          <p:cNvPr id="28" name="Google Shape;28;p21"/>
          <p:cNvSpPr txBox="1"/>
          <p:nvPr>
            <p:ph idx="1" type="body"/>
          </p:nvPr>
        </p:nvSpPr>
        <p:spPr>
          <a:xfrm>
            <a:off x="692727" y="1592206"/>
            <a:ext cx="5052000" cy="4922795"/>
          </a:xfrm>
          <a:prstGeom prst="rect">
            <a:avLst/>
          </a:prstGeom>
          <a:noFill/>
          <a:ln>
            <a:noFill/>
          </a:ln>
        </p:spPr>
        <p:txBody>
          <a:bodyPr anchorCtr="0" anchor="ctr" bIns="66800" lIns="133625" spcFirstLastPara="1" rIns="133625" wrap="square" tIns="66800">
            <a:normAutofit/>
          </a:bodyPr>
          <a:lstStyle>
            <a:lvl1pPr indent="-228600" lvl="0" marL="457200" algn="l">
              <a:lnSpc>
                <a:spcPct val="100000"/>
              </a:lnSpc>
              <a:spcBef>
                <a:spcPts val="1023"/>
              </a:spcBef>
              <a:spcAft>
                <a:spcPts val="0"/>
              </a:spcAft>
              <a:buClr>
                <a:schemeClr val="dk1"/>
              </a:buClr>
              <a:buSzPts val="2300"/>
              <a:buNone/>
              <a:defRPr b="0" i="0" sz="1977">
                <a:latin typeface="Open Sans"/>
                <a:ea typeface="Open Sans"/>
                <a:cs typeface="Open Sans"/>
                <a:sym typeface="Open Sans"/>
              </a:defRPr>
            </a:lvl1pPr>
            <a:lvl2pPr indent="-228600" lvl="1" marL="914400" algn="l">
              <a:lnSpc>
                <a:spcPct val="90000"/>
              </a:lnSpc>
              <a:spcBef>
                <a:spcPts val="477"/>
              </a:spcBef>
              <a:spcAft>
                <a:spcPts val="0"/>
              </a:spcAft>
              <a:buClr>
                <a:schemeClr val="dk1"/>
              </a:buClr>
              <a:buSzPts val="2000"/>
              <a:buNone/>
              <a:defRPr sz="1364"/>
            </a:lvl2pPr>
            <a:lvl3pPr indent="-228600" lvl="2" marL="1371600" algn="l">
              <a:lnSpc>
                <a:spcPct val="90000"/>
              </a:lnSpc>
              <a:spcBef>
                <a:spcPts val="477"/>
              </a:spcBef>
              <a:spcAft>
                <a:spcPts val="0"/>
              </a:spcAft>
              <a:buClr>
                <a:schemeClr val="dk1"/>
              </a:buClr>
              <a:buSzPts val="1800"/>
              <a:buNone/>
              <a:defRPr sz="1227"/>
            </a:lvl3pPr>
            <a:lvl4pPr indent="-228600" lvl="3" marL="1828800" algn="l">
              <a:lnSpc>
                <a:spcPct val="90000"/>
              </a:lnSpc>
              <a:spcBef>
                <a:spcPts val="477"/>
              </a:spcBef>
              <a:spcAft>
                <a:spcPts val="0"/>
              </a:spcAft>
              <a:buClr>
                <a:schemeClr val="dk1"/>
              </a:buClr>
              <a:buSzPts val="1500"/>
              <a:buNone/>
              <a:defRPr sz="1022"/>
            </a:lvl4pPr>
            <a:lvl5pPr indent="-228600" lvl="4" marL="2286000" algn="l">
              <a:lnSpc>
                <a:spcPct val="90000"/>
              </a:lnSpc>
              <a:spcBef>
                <a:spcPts val="477"/>
              </a:spcBef>
              <a:spcAft>
                <a:spcPts val="0"/>
              </a:spcAft>
              <a:buClr>
                <a:schemeClr val="dk1"/>
              </a:buClr>
              <a:buSzPts val="1500"/>
              <a:buNone/>
              <a:defRPr sz="1022"/>
            </a:lvl5pPr>
            <a:lvl6pPr indent="-228600" lvl="5" marL="2743200" algn="l">
              <a:lnSpc>
                <a:spcPct val="90000"/>
              </a:lnSpc>
              <a:spcBef>
                <a:spcPts val="477"/>
              </a:spcBef>
              <a:spcAft>
                <a:spcPts val="0"/>
              </a:spcAft>
              <a:buClr>
                <a:schemeClr val="dk1"/>
              </a:buClr>
              <a:buSzPts val="1500"/>
              <a:buNone/>
              <a:defRPr sz="1022"/>
            </a:lvl6pPr>
            <a:lvl7pPr indent="-228600" lvl="6" marL="3200400" algn="l">
              <a:lnSpc>
                <a:spcPct val="90000"/>
              </a:lnSpc>
              <a:spcBef>
                <a:spcPts val="477"/>
              </a:spcBef>
              <a:spcAft>
                <a:spcPts val="0"/>
              </a:spcAft>
              <a:buClr>
                <a:schemeClr val="dk1"/>
              </a:buClr>
              <a:buSzPts val="1500"/>
              <a:buNone/>
              <a:defRPr sz="1022"/>
            </a:lvl7pPr>
            <a:lvl8pPr indent="-228600" lvl="7" marL="3657600" algn="l">
              <a:lnSpc>
                <a:spcPct val="90000"/>
              </a:lnSpc>
              <a:spcBef>
                <a:spcPts val="477"/>
              </a:spcBef>
              <a:spcAft>
                <a:spcPts val="0"/>
              </a:spcAft>
              <a:buClr>
                <a:schemeClr val="dk1"/>
              </a:buClr>
              <a:buSzPts val="1500"/>
              <a:buNone/>
              <a:defRPr sz="1022"/>
            </a:lvl8pPr>
            <a:lvl9pPr indent="-228600" lvl="8" marL="4114800" algn="l">
              <a:lnSpc>
                <a:spcPct val="90000"/>
              </a:lnSpc>
              <a:spcBef>
                <a:spcPts val="477"/>
              </a:spcBef>
              <a:spcAft>
                <a:spcPts val="0"/>
              </a:spcAft>
              <a:buClr>
                <a:schemeClr val="dk1"/>
              </a:buClr>
              <a:buSzPts val="1500"/>
              <a:buNone/>
              <a:defRPr sz="1022"/>
            </a:lvl9pPr>
          </a:lstStyle>
          <a:p/>
        </p:txBody>
      </p:sp>
      <p:sp>
        <p:nvSpPr>
          <p:cNvPr id="29" name="Google Shape;29;p21"/>
          <p:cNvSpPr txBox="1"/>
          <p:nvPr>
            <p:ph type="title"/>
          </p:nvPr>
        </p:nvSpPr>
        <p:spPr>
          <a:xfrm>
            <a:off x="2422863" y="230199"/>
            <a:ext cx="9312000" cy="1103318"/>
          </a:xfrm>
          <a:prstGeom prst="rect">
            <a:avLst/>
          </a:prstGeom>
          <a:noFill/>
          <a:ln>
            <a:noFill/>
          </a:ln>
        </p:spPr>
        <p:txBody>
          <a:bodyPr anchorCtr="0" anchor="ctr" bIns="66800" lIns="133625" spcFirstLastPara="1" rIns="133625" wrap="square" tIns="66800">
            <a:normAutofit/>
          </a:bodyPr>
          <a:lstStyle>
            <a:lvl1pPr lvl="0" algn="l">
              <a:lnSpc>
                <a:spcPct val="100000"/>
              </a:lnSpc>
              <a:spcBef>
                <a:spcPts val="0"/>
              </a:spcBef>
              <a:spcAft>
                <a:spcPts val="0"/>
              </a:spcAft>
              <a:buClr>
                <a:srgbClr val="003087"/>
              </a:buClr>
              <a:buSzPts val="2900"/>
              <a:buFont typeface="PT Serif"/>
              <a:buNone/>
              <a:defRPr b="1" i="1">
                <a:solidFill>
                  <a:srgbClr val="003087"/>
                </a:solidFill>
                <a:latin typeface="PT Serif"/>
                <a:ea typeface="PT Serif"/>
                <a:cs typeface="PT Serif"/>
                <a:sym typeface="PT Serif"/>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22"/>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dk1"/>
              </a:buClr>
              <a:buSzPts val="2800"/>
              <a:buFont typeface="Calibri"/>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p22"/>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Autofit/>
          </a:bodyPr>
          <a:lstStyle>
            <a:lvl1pPr indent="-317500" lvl="0" marL="457200" algn="l">
              <a:lnSpc>
                <a:spcPct val="90000"/>
              </a:lnSpc>
              <a:spcBef>
                <a:spcPts val="0"/>
              </a:spcBef>
              <a:spcAft>
                <a:spcPts val="0"/>
              </a:spcAft>
              <a:buClr>
                <a:schemeClr val="dk1"/>
              </a:buClr>
              <a:buSzPts val="1400"/>
              <a:buChar char="●"/>
              <a:defRPr sz="1867"/>
            </a:lvl1pPr>
            <a:lvl2pPr indent="-304800" lvl="1" marL="914400" algn="l">
              <a:lnSpc>
                <a:spcPct val="90000"/>
              </a:lnSpc>
              <a:spcBef>
                <a:spcPts val="2133"/>
              </a:spcBef>
              <a:spcAft>
                <a:spcPts val="0"/>
              </a:spcAft>
              <a:buClr>
                <a:schemeClr val="dk1"/>
              </a:buClr>
              <a:buSzPts val="1200"/>
              <a:buChar char="○"/>
              <a:defRPr sz="1600"/>
            </a:lvl2pPr>
            <a:lvl3pPr indent="-304800" lvl="2" marL="1371600" algn="l">
              <a:lnSpc>
                <a:spcPct val="90000"/>
              </a:lnSpc>
              <a:spcBef>
                <a:spcPts val="2133"/>
              </a:spcBef>
              <a:spcAft>
                <a:spcPts val="0"/>
              </a:spcAft>
              <a:buClr>
                <a:schemeClr val="dk1"/>
              </a:buClr>
              <a:buSzPts val="1200"/>
              <a:buChar char="■"/>
              <a:defRPr sz="1600"/>
            </a:lvl3pPr>
            <a:lvl4pPr indent="-304800" lvl="3" marL="1828800" algn="l">
              <a:lnSpc>
                <a:spcPct val="90000"/>
              </a:lnSpc>
              <a:spcBef>
                <a:spcPts val="2133"/>
              </a:spcBef>
              <a:spcAft>
                <a:spcPts val="0"/>
              </a:spcAft>
              <a:buClr>
                <a:schemeClr val="dk1"/>
              </a:buClr>
              <a:buSzPts val="1200"/>
              <a:buChar char="●"/>
              <a:defRPr sz="1600"/>
            </a:lvl4pPr>
            <a:lvl5pPr indent="-304800" lvl="4" marL="2286000" algn="l">
              <a:lnSpc>
                <a:spcPct val="90000"/>
              </a:lnSpc>
              <a:spcBef>
                <a:spcPts val="2133"/>
              </a:spcBef>
              <a:spcAft>
                <a:spcPts val="0"/>
              </a:spcAft>
              <a:buClr>
                <a:schemeClr val="dk1"/>
              </a:buClr>
              <a:buSzPts val="1200"/>
              <a:buChar char="○"/>
              <a:defRPr sz="1600"/>
            </a:lvl5pPr>
            <a:lvl6pPr indent="-304800" lvl="5" marL="2743200" algn="l">
              <a:lnSpc>
                <a:spcPct val="90000"/>
              </a:lnSpc>
              <a:spcBef>
                <a:spcPts val="2133"/>
              </a:spcBef>
              <a:spcAft>
                <a:spcPts val="0"/>
              </a:spcAft>
              <a:buClr>
                <a:schemeClr val="dk1"/>
              </a:buClr>
              <a:buSzPts val="1200"/>
              <a:buChar char="■"/>
              <a:defRPr sz="1600"/>
            </a:lvl6pPr>
            <a:lvl7pPr indent="-304800" lvl="6" marL="3200400" algn="l">
              <a:lnSpc>
                <a:spcPct val="90000"/>
              </a:lnSpc>
              <a:spcBef>
                <a:spcPts val="2133"/>
              </a:spcBef>
              <a:spcAft>
                <a:spcPts val="0"/>
              </a:spcAft>
              <a:buClr>
                <a:schemeClr val="dk1"/>
              </a:buClr>
              <a:buSzPts val="1200"/>
              <a:buChar char="●"/>
              <a:defRPr sz="1600"/>
            </a:lvl7pPr>
            <a:lvl8pPr indent="-304800" lvl="7" marL="3657600" algn="l">
              <a:lnSpc>
                <a:spcPct val="90000"/>
              </a:lnSpc>
              <a:spcBef>
                <a:spcPts val="2133"/>
              </a:spcBef>
              <a:spcAft>
                <a:spcPts val="0"/>
              </a:spcAft>
              <a:buClr>
                <a:schemeClr val="dk1"/>
              </a:buClr>
              <a:buSzPts val="1200"/>
              <a:buChar char="○"/>
              <a:defRPr sz="1600"/>
            </a:lvl8pPr>
            <a:lvl9pPr indent="-304800" lvl="8" marL="4114800" algn="l">
              <a:lnSpc>
                <a:spcPct val="90000"/>
              </a:lnSpc>
              <a:spcBef>
                <a:spcPts val="2133"/>
              </a:spcBef>
              <a:spcAft>
                <a:spcPts val="2133"/>
              </a:spcAft>
              <a:buClr>
                <a:schemeClr val="dk1"/>
              </a:buClr>
              <a:buSzPts val="1200"/>
              <a:buChar char="■"/>
              <a:defRPr sz="1600"/>
            </a:lvl9pPr>
          </a:lstStyle>
          <a:p/>
        </p:txBody>
      </p:sp>
      <p:sp>
        <p:nvSpPr>
          <p:cNvPr id="33" name="Google Shape;33;p22"/>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Autofit/>
          </a:bodyPr>
          <a:lstStyle>
            <a:lvl1pPr indent="-317500" lvl="0" marL="457200" algn="l">
              <a:lnSpc>
                <a:spcPct val="90000"/>
              </a:lnSpc>
              <a:spcBef>
                <a:spcPts val="0"/>
              </a:spcBef>
              <a:spcAft>
                <a:spcPts val="0"/>
              </a:spcAft>
              <a:buClr>
                <a:schemeClr val="dk1"/>
              </a:buClr>
              <a:buSzPts val="1400"/>
              <a:buChar char="●"/>
              <a:defRPr sz="1867"/>
            </a:lvl1pPr>
            <a:lvl2pPr indent="-304800" lvl="1" marL="914400" algn="l">
              <a:lnSpc>
                <a:spcPct val="90000"/>
              </a:lnSpc>
              <a:spcBef>
                <a:spcPts val="2133"/>
              </a:spcBef>
              <a:spcAft>
                <a:spcPts val="0"/>
              </a:spcAft>
              <a:buClr>
                <a:schemeClr val="dk1"/>
              </a:buClr>
              <a:buSzPts val="1200"/>
              <a:buChar char="○"/>
              <a:defRPr sz="1600"/>
            </a:lvl2pPr>
            <a:lvl3pPr indent="-304800" lvl="2" marL="1371600" algn="l">
              <a:lnSpc>
                <a:spcPct val="90000"/>
              </a:lnSpc>
              <a:spcBef>
                <a:spcPts val="2133"/>
              </a:spcBef>
              <a:spcAft>
                <a:spcPts val="0"/>
              </a:spcAft>
              <a:buClr>
                <a:schemeClr val="dk1"/>
              </a:buClr>
              <a:buSzPts val="1200"/>
              <a:buChar char="■"/>
              <a:defRPr sz="1600"/>
            </a:lvl3pPr>
            <a:lvl4pPr indent="-304800" lvl="3" marL="1828800" algn="l">
              <a:lnSpc>
                <a:spcPct val="90000"/>
              </a:lnSpc>
              <a:spcBef>
                <a:spcPts val="2133"/>
              </a:spcBef>
              <a:spcAft>
                <a:spcPts val="0"/>
              </a:spcAft>
              <a:buClr>
                <a:schemeClr val="dk1"/>
              </a:buClr>
              <a:buSzPts val="1200"/>
              <a:buChar char="●"/>
              <a:defRPr sz="1600"/>
            </a:lvl4pPr>
            <a:lvl5pPr indent="-304800" lvl="4" marL="2286000" algn="l">
              <a:lnSpc>
                <a:spcPct val="90000"/>
              </a:lnSpc>
              <a:spcBef>
                <a:spcPts val="2133"/>
              </a:spcBef>
              <a:spcAft>
                <a:spcPts val="0"/>
              </a:spcAft>
              <a:buClr>
                <a:schemeClr val="dk1"/>
              </a:buClr>
              <a:buSzPts val="1200"/>
              <a:buChar char="○"/>
              <a:defRPr sz="1600"/>
            </a:lvl5pPr>
            <a:lvl6pPr indent="-304800" lvl="5" marL="2743200" algn="l">
              <a:lnSpc>
                <a:spcPct val="90000"/>
              </a:lnSpc>
              <a:spcBef>
                <a:spcPts val="2133"/>
              </a:spcBef>
              <a:spcAft>
                <a:spcPts val="0"/>
              </a:spcAft>
              <a:buClr>
                <a:schemeClr val="dk1"/>
              </a:buClr>
              <a:buSzPts val="1200"/>
              <a:buChar char="■"/>
              <a:defRPr sz="1600"/>
            </a:lvl6pPr>
            <a:lvl7pPr indent="-304800" lvl="6" marL="3200400" algn="l">
              <a:lnSpc>
                <a:spcPct val="90000"/>
              </a:lnSpc>
              <a:spcBef>
                <a:spcPts val="2133"/>
              </a:spcBef>
              <a:spcAft>
                <a:spcPts val="0"/>
              </a:spcAft>
              <a:buClr>
                <a:schemeClr val="dk1"/>
              </a:buClr>
              <a:buSzPts val="1200"/>
              <a:buChar char="●"/>
              <a:defRPr sz="1600"/>
            </a:lvl7pPr>
            <a:lvl8pPr indent="-304800" lvl="7" marL="3657600" algn="l">
              <a:lnSpc>
                <a:spcPct val="90000"/>
              </a:lnSpc>
              <a:spcBef>
                <a:spcPts val="2133"/>
              </a:spcBef>
              <a:spcAft>
                <a:spcPts val="0"/>
              </a:spcAft>
              <a:buClr>
                <a:schemeClr val="dk1"/>
              </a:buClr>
              <a:buSzPts val="1200"/>
              <a:buChar char="○"/>
              <a:defRPr sz="1600"/>
            </a:lvl8pPr>
            <a:lvl9pPr indent="-304800" lvl="8" marL="4114800" algn="l">
              <a:lnSpc>
                <a:spcPct val="90000"/>
              </a:lnSpc>
              <a:spcBef>
                <a:spcPts val="2133"/>
              </a:spcBef>
              <a:spcAft>
                <a:spcPts val="2133"/>
              </a:spcAft>
              <a:buClr>
                <a:schemeClr val="dk1"/>
              </a:buClr>
              <a:buSzPts val="1200"/>
              <a:buChar char="■"/>
              <a:defRPr sz="1600"/>
            </a:lvl9pPr>
          </a:lstStyle>
          <a:p/>
        </p:txBody>
      </p:sp>
      <p:sp>
        <p:nvSpPr>
          <p:cNvPr id="34" name="Google Shape;34;p2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39" name="Shape 39"/>
        <p:cNvGrpSpPr/>
        <p:nvPr/>
      </p:nvGrpSpPr>
      <p:grpSpPr>
        <a:xfrm>
          <a:off x="0" y="0"/>
          <a:ext cx="0" cy="0"/>
          <a:chOff x="0" y="0"/>
          <a:chExt cx="0" cy="0"/>
        </a:xfrm>
      </p:grpSpPr>
      <p:sp>
        <p:nvSpPr>
          <p:cNvPr id="40" name="Google Shape;40;p20"/>
          <p:cNvSpPr txBox="1"/>
          <p:nvPr>
            <p:ph idx="1" type="body"/>
          </p:nvPr>
        </p:nvSpPr>
        <p:spPr>
          <a:xfrm>
            <a:off x="457200" y="876300"/>
            <a:ext cx="11277600" cy="5638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b="0" i="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0"/>
          <p:cNvSpPr txBox="1"/>
          <p:nvPr>
            <p:ph type="title"/>
          </p:nvPr>
        </p:nvSpPr>
        <p:spPr>
          <a:xfrm>
            <a:off x="1499286" y="2"/>
            <a:ext cx="10235514" cy="876298"/>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003087"/>
              </a:buClr>
              <a:buSzPts val="1400"/>
              <a:buFont typeface="PT Serif"/>
              <a:buNone/>
              <a:defRPr b="1" i="1">
                <a:solidFill>
                  <a:srgbClr val="003087"/>
                </a:solidFill>
                <a:latin typeface="PT Serif"/>
                <a:ea typeface="PT Serif"/>
                <a:cs typeface="PT Serif"/>
                <a:sym typeface="PT Serif"/>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0"/>
          <p:cNvSpPr txBox="1"/>
          <p:nvPr>
            <p:ph idx="10" type="dt"/>
          </p:nvPr>
        </p:nvSpPr>
        <p:spPr>
          <a:xfrm>
            <a:off x="457200" y="6582031"/>
            <a:ext cx="3124200" cy="27596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3" name="Google Shape;43;p20"/>
          <p:cNvSpPr txBox="1"/>
          <p:nvPr>
            <p:ph idx="11" type="ftr"/>
          </p:nvPr>
        </p:nvSpPr>
        <p:spPr>
          <a:xfrm>
            <a:off x="4038600" y="6582031"/>
            <a:ext cx="4114800" cy="27596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4" name="Google Shape;44;p20"/>
          <p:cNvSpPr txBox="1"/>
          <p:nvPr>
            <p:ph idx="12" type="sldNum"/>
          </p:nvPr>
        </p:nvSpPr>
        <p:spPr>
          <a:xfrm>
            <a:off x="8610600" y="6582031"/>
            <a:ext cx="3124200" cy="27596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050" u="none" cap="none" strike="noStrike">
                <a:solidFill>
                  <a:srgbClr val="888888"/>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200"/>
              <a:buFont typeface="Arial"/>
              <a:buNone/>
              <a:defRPr b="0" i="0" sz="1050" u="none" cap="none" strike="noStrike">
                <a:solidFill>
                  <a:srgbClr val="888888"/>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200"/>
              <a:buFont typeface="Arial"/>
              <a:buNone/>
              <a:defRPr b="0" i="0" sz="1050" u="none" cap="none" strike="noStrike">
                <a:solidFill>
                  <a:srgbClr val="888888"/>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200"/>
              <a:buFont typeface="Arial"/>
              <a:buNone/>
              <a:defRPr b="0" i="0" sz="1050" u="none" cap="none" strike="noStrike">
                <a:solidFill>
                  <a:srgbClr val="888888"/>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200"/>
              <a:buFont typeface="Arial"/>
              <a:buNone/>
              <a:defRPr b="0" i="0" sz="1050" u="none" cap="none" strike="noStrike">
                <a:solidFill>
                  <a:srgbClr val="888888"/>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200"/>
              <a:buFont typeface="Arial"/>
              <a:buNone/>
              <a:defRPr b="0" i="0" sz="1050" u="none" cap="none" strike="noStrike">
                <a:solidFill>
                  <a:srgbClr val="888888"/>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200"/>
              <a:buFont typeface="Arial"/>
              <a:buNone/>
              <a:defRPr b="0" i="0" sz="1050" u="none" cap="none" strike="noStrike">
                <a:solidFill>
                  <a:srgbClr val="888888"/>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200"/>
              <a:buFont typeface="Arial"/>
              <a:buNone/>
              <a:defRPr b="0" i="0" sz="1050" u="none" cap="none" strike="noStrike">
                <a:solidFill>
                  <a:srgbClr val="888888"/>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200"/>
              <a:buFont typeface="Arial"/>
              <a:buNone/>
              <a:defRPr b="0" i="0" sz="1050" u="none" cap="none" strike="noStrike">
                <a:solidFill>
                  <a:srgbClr val="888888"/>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lank">
  <p:cSld name="3_Blank">
    <p:spTree>
      <p:nvGrpSpPr>
        <p:cNvPr id="45" name="Shape 45"/>
        <p:cNvGrpSpPr/>
        <p:nvPr/>
      </p:nvGrpSpPr>
      <p:grpSpPr>
        <a:xfrm>
          <a:off x="0" y="0"/>
          <a:ext cx="0" cy="0"/>
          <a:chOff x="0" y="0"/>
          <a:chExt cx="0" cy="0"/>
        </a:xfrm>
      </p:grpSpPr>
      <p:sp>
        <p:nvSpPr>
          <p:cNvPr id="46" name="Google Shape;46;p4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Franklin"/>
              <a:ea typeface="Libre Franklin"/>
              <a:cs typeface="Libre Franklin"/>
              <a:sym typeface="Libre Franklin"/>
            </a:endParaRPr>
          </a:p>
        </p:txBody>
      </p:sp>
      <p:sp>
        <p:nvSpPr>
          <p:cNvPr id="47" name="Google Shape;47;p40"/>
          <p:cNvSpPr txBox="1"/>
          <p:nvPr>
            <p:ph idx="10" type="dt"/>
          </p:nvPr>
        </p:nvSpPr>
        <p:spPr>
          <a:xfrm>
            <a:off x="3697357" y="6453386"/>
            <a:ext cx="818982" cy="40461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BFBFB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0"/>
          <p:cNvSpPr txBox="1"/>
          <p:nvPr>
            <p:ph idx="11" type="ftr"/>
          </p:nvPr>
        </p:nvSpPr>
        <p:spPr>
          <a:xfrm>
            <a:off x="4516340" y="6453386"/>
            <a:ext cx="6074797" cy="40461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BFBFB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0"/>
          <p:cNvSpPr txBox="1"/>
          <p:nvPr>
            <p:ph idx="12" type="sldNum"/>
          </p:nvPr>
        </p:nvSpPr>
        <p:spPr>
          <a:xfrm>
            <a:off x="10591137" y="6453386"/>
            <a:ext cx="477889" cy="40461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BFBFBF"/>
                </a:solidFill>
                <a:latin typeface="Libre Franklin"/>
                <a:ea typeface="Libre Franklin"/>
                <a:cs typeface="Libre Franklin"/>
                <a:sym typeface="Libre Franklin"/>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BFBFBF"/>
                </a:solidFill>
                <a:latin typeface="Libre Franklin"/>
                <a:ea typeface="Libre Franklin"/>
                <a:cs typeface="Libre Franklin"/>
                <a:sym typeface="Libre Franklin"/>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BFBFBF"/>
                </a:solidFill>
                <a:latin typeface="Libre Franklin"/>
                <a:ea typeface="Libre Franklin"/>
                <a:cs typeface="Libre Franklin"/>
                <a:sym typeface="Libre Franklin"/>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BFBFBF"/>
                </a:solidFill>
                <a:latin typeface="Libre Franklin"/>
                <a:ea typeface="Libre Franklin"/>
                <a:cs typeface="Libre Franklin"/>
                <a:sym typeface="Libre Franklin"/>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BFBFBF"/>
                </a:solidFill>
                <a:latin typeface="Libre Franklin"/>
                <a:ea typeface="Libre Franklin"/>
                <a:cs typeface="Libre Franklin"/>
                <a:sym typeface="Libre Franklin"/>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BFBFBF"/>
                </a:solidFill>
                <a:latin typeface="Libre Franklin"/>
                <a:ea typeface="Libre Franklin"/>
                <a:cs typeface="Libre Franklin"/>
                <a:sym typeface="Libre Franklin"/>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BFBFBF"/>
                </a:solidFill>
                <a:latin typeface="Libre Franklin"/>
                <a:ea typeface="Libre Franklin"/>
                <a:cs typeface="Libre Franklin"/>
                <a:sym typeface="Libre Franklin"/>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BFBFBF"/>
                </a:solidFill>
                <a:latin typeface="Libre Franklin"/>
                <a:ea typeface="Libre Franklin"/>
                <a:cs typeface="Libre Franklin"/>
                <a:sym typeface="Libre Franklin"/>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BFBFBF"/>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50" name="Google Shape;50;p40" title="Side bar"/>
          <p:cNvSpPr/>
          <p:nvPr/>
        </p:nvSpPr>
        <p:spPr>
          <a:xfrm>
            <a:off x="478095" y="376"/>
            <a:ext cx="228600" cy="5867024"/>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 name="Google Shape;51;p40"/>
          <p:cNvPicPr preferRelativeResize="0"/>
          <p:nvPr/>
        </p:nvPicPr>
        <p:blipFill rotWithShape="1">
          <a:blip r:embed="rId2">
            <a:alphaModFix/>
          </a:blip>
          <a:srcRect b="0" l="0" r="0" t="0"/>
          <a:stretch/>
        </p:blipFill>
        <p:spPr>
          <a:xfrm>
            <a:off x="182904" y="5953209"/>
            <a:ext cx="818982" cy="818982"/>
          </a:xfrm>
          <a:prstGeom prst="rect">
            <a:avLst/>
          </a:prstGeom>
          <a:noFill/>
          <a:ln>
            <a:noFill/>
          </a:ln>
        </p:spPr>
      </p:pic>
      <p:sp>
        <p:nvSpPr>
          <p:cNvPr id="52" name="Google Shape;52;p40"/>
          <p:cNvSpPr txBox="1"/>
          <p:nvPr>
            <p:ph type="title"/>
          </p:nvPr>
        </p:nvSpPr>
        <p:spPr>
          <a:xfrm>
            <a:off x="1371600" y="447875"/>
            <a:ext cx="9601200" cy="519056"/>
          </a:xfrm>
          <a:prstGeom prst="rect">
            <a:avLst/>
          </a:prstGeom>
          <a:noFill/>
          <a:ln>
            <a:noFill/>
          </a:ln>
        </p:spPr>
        <p:txBody>
          <a:bodyPr anchorCtr="0" anchor="t" bIns="45700" lIns="91425" spcFirstLastPara="1" rIns="91425" wrap="square" tIns="45700">
            <a:normAutofit/>
          </a:bodyPr>
          <a:lstStyle>
            <a:lvl1pPr lvl="0" marR="0" algn="l">
              <a:lnSpc>
                <a:spcPct val="89000"/>
              </a:lnSpc>
              <a:spcBef>
                <a:spcPts val="0"/>
              </a:spcBef>
              <a:spcAft>
                <a:spcPts val="0"/>
              </a:spcAft>
              <a:buClr>
                <a:schemeClr val="dk2"/>
              </a:buClr>
              <a:buSzPts val="4400"/>
              <a:buFont typeface="Libre Franklin"/>
              <a:buNone/>
              <a:defRPr b="1" i="0" sz="2800" u="none" cap="none" strike="noStrike">
                <a:solidFill>
                  <a:schemeClr val="dk1"/>
                </a:solidFill>
                <a:latin typeface="Avenir"/>
                <a:ea typeface="Avenir"/>
                <a:cs typeface="Avenir"/>
                <a:sym typeface="Avenir"/>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3" name="Google Shape;53;p40"/>
          <p:cNvSpPr txBox="1"/>
          <p:nvPr>
            <p:ph idx="1" type="body"/>
          </p:nvPr>
        </p:nvSpPr>
        <p:spPr>
          <a:xfrm>
            <a:off x="1371600" y="1133619"/>
            <a:ext cx="9601200" cy="4733781"/>
          </a:xfrm>
          <a:prstGeom prst="rect">
            <a:avLst/>
          </a:prstGeom>
          <a:noFill/>
          <a:ln>
            <a:noFill/>
          </a:ln>
        </p:spPr>
        <p:txBody>
          <a:bodyPr anchorCtr="0" anchor="t" bIns="45700" lIns="91425" spcFirstLastPara="1" rIns="91425" wrap="square" tIns="45700">
            <a:normAutofit/>
          </a:bodyPr>
          <a:lstStyle>
            <a:lvl1pPr indent="-355600" lvl="0" marL="457200" marR="0" algn="l">
              <a:lnSpc>
                <a:spcPct val="114000"/>
              </a:lnSpc>
              <a:spcBef>
                <a:spcPts val="1000"/>
              </a:spcBef>
              <a:spcAft>
                <a:spcPts val="0"/>
              </a:spcAft>
              <a:buClr>
                <a:schemeClr val="dk2"/>
              </a:buClr>
              <a:buSzPts val="2000"/>
              <a:buFont typeface="Libre Franklin"/>
              <a:buChar char="■"/>
              <a:defRPr b="0" i="0" sz="2000" u="none" cap="none" strike="noStrike">
                <a:solidFill>
                  <a:schemeClr val="dk1"/>
                </a:solidFill>
                <a:latin typeface="Avenir"/>
                <a:ea typeface="Avenir"/>
                <a:cs typeface="Avenir"/>
                <a:sym typeface="Avenir"/>
              </a:defRPr>
            </a:lvl1pPr>
            <a:lvl2pPr indent="-355600" lvl="1" marL="914400" marR="0" algn="l">
              <a:lnSpc>
                <a:spcPct val="114000"/>
              </a:lnSpc>
              <a:spcBef>
                <a:spcPts val="500"/>
              </a:spcBef>
              <a:spcAft>
                <a:spcPts val="0"/>
              </a:spcAft>
              <a:buClr>
                <a:schemeClr val="dk2"/>
              </a:buClr>
              <a:buSzPts val="2000"/>
              <a:buFont typeface="Libre Franklin"/>
              <a:buChar char="–"/>
              <a:defRPr b="0" i="1" sz="1800" u="none" cap="none" strike="noStrike">
                <a:solidFill>
                  <a:schemeClr val="dk1"/>
                </a:solidFill>
                <a:latin typeface="Avenir"/>
                <a:ea typeface="Avenir"/>
                <a:cs typeface="Avenir"/>
                <a:sym typeface="Avenir"/>
              </a:defRPr>
            </a:lvl2pPr>
            <a:lvl3pPr indent="-342900" lvl="2" marL="1371600" marR="0" algn="l">
              <a:lnSpc>
                <a:spcPct val="114000"/>
              </a:lnSpc>
              <a:spcBef>
                <a:spcPts val="500"/>
              </a:spcBef>
              <a:spcAft>
                <a:spcPts val="0"/>
              </a:spcAft>
              <a:buClr>
                <a:schemeClr val="dk2"/>
              </a:buClr>
              <a:buSzPts val="1800"/>
              <a:buFont typeface="Libre Franklin"/>
              <a:buChar char="■"/>
              <a:defRPr b="0" i="0" sz="1600" u="none" cap="none" strike="noStrike">
                <a:solidFill>
                  <a:schemeClr val="dk1"/>
                </a:solidFill>
                <a:latin typeface="Avenir"/>
                <a:ea typeface="Avenir"/>
                <a:cs typeface="Avenir"/>
                <a:sym typeface="Avenir"/>
              </a:defRPr>
            </a:lvl3pPr>
            <a:lvl4pPr indent="-342900" lvl="3" marL="1828800" marR="0" algn="l">
              <a:lnSpc>
                <a:spcPct val="94000"/>
              </a:lnSpc>
              <a:spcBef>
                <a:spcPts val="500"/>
              </a:spcBef>
              <a:spcAft>
                <a:spcPts val="0"/>
              </a:spcAft>
              <a:buClr>
                <a:schemeClr val="dk2"/>
              </a:buClr>
              <a:buSzPts val="1800"/>
              <a:buFont typeface="Libre Franklin"/>
              <a:buChar char="–"/>
              <a:defRPr b="0" i="1" sz="1800" u="none" cap="none" strike="noStrike">
                <a:solidFill>
                  <a:schemeClr val="dk2"/>
                </a:solidFill>
                <a:latin typeface="Libre Franklin"/>
                <a:ea typeface="Libre Franklin"/>
                <a:cs typeface="Libre Franklin"/>
                <a:sym typeface="Libre Franklin"/>
              </a:defRPr>
            </a:lvl4pPr>
            <a:lvl5pPr indent="-330200" lvl="4" marL="2286000" marR="0" algn="l">
              <a:lnSpc>
                <a:spcPct val="94000"/>
              </a:lnSpc>
              <a:spcBef>
                <a:spcPts val="500"/>
              </a:spcBef>
              <a:spcAft>
                <a:spcPts val="0"/>
              </a:spcAft>
              <a:buClr>
                <a:schemeClr val="dk2"/>
              </a:buClr>
              <a:buSzPts val="1600"/>
              <a:buFont typeface="Libre Franklin"/>
              <a:buChar char="■"/>
              <a:defRPr b="0" i="0" sz="1600" u="none" cap="none" strike="noStrike">
                <a:solidFill>
                  <a:schemeClr val="dk2"/>
                </a:solidFill>
                <a:latin typeface="Libre Franklin"/>
                <a:ea typeface="Libre Franklin"/>
                <a:cs typeface="Libre Franklin"/>
                <a:sym typeface="Libre Franklin"/>
              </a:defRPr>
            </a:lvl5pPr>
            <a:lvl6pPr indent="-330200" lvl="5" marL="2743200" marR="0" algn="l">
              <a:lnSpc>
                <a:spcPct val="94000"/>
              </a:lnSpc>
              <a:spcBef>
                <a:spcPts val="500"/>
              </a:spcBef>
              <a:spcAft>
                <a:spcPts val="0"/>
              </a:spcAft>
              <a:buClr>
                <a:schemeClr val="dk2"/>
              </a:buClr>
              <a:buSzPts val="1600"/>
              <a:buFont typeface="Libre Franklin"/>
              <a:buChar char="–"/>
              <a:defRPr b="0" i="1" sz="1600" u="none" cap="none" strike="noStrike">
                <a:solidFill>
                  <a:schemeClr val="dk2"/>
                </a:solidFill>
                <a:latin typeface="Libre Franklin"/>
                <a:ea typeface="Libre Franklin"/>
                <a:cs typeface="Libre Franklin"/>
                <a:sym typeface="Libre Franklin"/>
              </a:defRPr>
            </a:lvl6pPr>
            <a:lvl7pPr indent="-317500" lvl="6" marL="3200400" marR="0" algn="l">
              <a:lnSpc>
                <a:spcPct val="94000"/>
              </a:lnSpc>
              <a:spcBef>
                <a:spcPts val="500"/>
              </a:spcBef>
              <a:spcAft>
                <a:spcPts val="0"/>
              </a:spcAft>
              <a:buClr>
                <a:schemeClr val="dk2"/>
              </a:buClr>
              <a:buSzPts val="1400"/>
              <a:buFont typeface="Libre Franklin"/>
              <a:buChar char="■"/>
              <a:defRPr b="0" i="0" sz="1400" u="none" cap="none" strike="noStrike">
                <a:solidFill>
                  <a:schemeClr val="dk2"/>
                </a:solidFill>
                <a:latin typeface="Libre Franklin"/>
                <a:ea typeface="Libre Franklin"/>
                <a:cs typeface="Libre Franklin"/>
                <a:sym typeface="Libre Franklin"/>
              </a:defRPr>
            </a:lvl7pPr>
            <a:lvl8pPr indent="-317500" lvl="7" marL="3657600" marR="0" algn="l">
              <a:lnSpc>
                <a:spcPct val="94000"/>
              </a:lnSpc>
              <a:spcBef>
                <a:spcPts val="500"/>
              </a:spcBef>
              <a:spcAft>
                <a:spcPts val="0"/>
              </a:spcAft>
              <a:buClr>
                <a:schemeClr val="dk2"/>
              </a:buClr>
              <a:buSzPts val="1400"/>
              <a:buFont typeface="Libre Franklin"/>
              <a:buChar char="–"/>
              <a:defRPr b="0" i="1" sz="1400" u="none" cap="none" strike="noStrike">
                <a:solidFill>
                  <a:schemeClr val="dk2"/>
                </a:solidFill>
                <a:latin typeface="Libre Franklin"/>
                <a:ea typeface="Libre Franklin"/>
                <a:cs typeface="Libre Franklin"/>
                <a:sym typeface="Libre Franklin"/>
              </a:defRPr>
            </a:lvl8pPr>
            <a:lvl9pPr indent="-317500" lvl="8" marL="4114800" marR="0" algn="l">
              <a:lnSpc>
                <a:spcPct val="94000"/>
              </a:lnSpc>
              <a:spcBef>
                <a:spcPts val="500"/>
              </a:spcBef>
              <a:spcAft>
                <a:spcPts val="200"/>
              </a:spcAft>
              <a:buClr>
                <a:schemeClr val="dk2"/>
              </a:buClr>
              <a:buSzPts val="1400"/>
              <a:buFont typeface="Libre Franklin"/>
              <a:buChar char="■"/>
              <a:defRPr b="0" i="0" sz="1400" u="none" cap="none" strike="noStrike">
                <a:solidFill>
                  <a:schemeClr val="dk2"/>
                </a:solidFill>
                <a:latin typeface="Libre Franklin"/>
                <a:ea typeface="Libre Franklin"/>
                <a:cs typeface="Libre Franklin"/>
                <a:sym typeface="Libre Franklin"/>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4" name="Shape 54"/>
        <p:cNvGrpSpPr/>
        <p:nvPr/>
      </p:nvGrpSpPr>
      <p:grpSpPr>
        <a:xfrm>
          <a:off x="0" y="0"/>
          <a:ext cx="0" cy="0"/>
          <a:chOff x="0" y="0"/>
          <a:chExt cx="0" cy="0"/>
        </a:xfrm>
      </p:grpSpPr>
      <p:sp>
        <p:nvSpPr>
          <p:cNvPr id="55" name="Google Shape;55;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57" name="Google Shape;5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0" name="Shape 60"/>
        <p:cNvGrpSpPr/>
        <p:nvPr/>
      </p:nvGrpSpPr>
      <p:grpSpPr>
        <a:xfrm>
          <a:off x="0" y="0"/>
          <a:ext cx="0" cy="0"/>
          <a:chOff x="0" y="0"/>
          <a:chExt cx="0" cy="0"/>
        </a:xfrm>
      </p:grpSpPr>
      <p:sp>
        <p:nvSpPr>
          <p:cNvPr id="61" name="Google Shape;6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2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0" name="Google Shape;70;p2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2" name="Google Shape;72;p2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 name="Shape 76"/>
        <p:cNvGrpSpPr/>
        <p:nvPr/>
      </p:nvGrpSpPr>
      <p:grpSpPr>
        <a:xfrm>
          <a:off x="0" y="0"/>
          <a:ext cx="0" cy="0"/>
          <a:chOff x="0" y="0"/>
          <a:chExt cx="0" cy="0"/>
        </a:xfrm>
      </p:grpSpPr>
      <p:sp>
        <p:nvSpPr>
          <p:cNvPr id="77" name="Google Shape;77;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1" name="Shape 81"/>
        <p:cNvGrpSpPr/>
        <p:nvPr/>
      </p:nvGrpSpPr>
      <p:grpSpPr>
        <a:xfrm>
          <a:off x="0" y="0"/>
          <a:ext cx="0" cy="0"/>
          <a:chOff x="0" y="0"/>
          <a:chExt cx="0" cy="0"/>
        </a:xfrm>
      </p:grpSpPr>
      <p:sp>
        <p:nvSpPr>
          <p:cNvPr id="82" name="Google Shape;82;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84" name="Google Shape;84;p3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5" name="Google Shape;8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8" name="Shape 88"/>
        <p:cNvGrpSpPr/>
        <p:nvPr/>
      </p:nvGrpSpPr>
      <p:grpSpPr>
        <a:xfrm>
          <a:off x="0" y="0"/>
          <a:ext cx="0" cy="0"/>
          <a:chOff x="0" y="0"/>
          <a:chExt cx="0" cy="0"/>
        </a:xfrm>
      </p:grpSpPr>
      <p:sp>
        <p:nvSpPr>
          <p:cNvPr id="89" name="Google Shape;89;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1"/>
          <p:cNvSpPr/>
          <p:nvPr>
            <p:ph idx="2" type="pic"/>
          </p:nvPr>
        </p:nvSpPr>
        <p:spPr>
          <a:xfrm>
            <a:off x="5183188" y="987425"/>
            <a:ext cx="6172200" cy="4873625"/>
          </a:xfrm>
          <a:prstGeom prst="rect">
            <a:avLst/>
          </a:prstGeom>
          <a:noFill/>
          <a:ln>
            <a:noFill/>
          </a:ln>
        </p:spPr>
      </p:sp>
      <p:sp>
        <p:nvSpPr>
          <p:cNvPr id="91" name="Google Shape;91;p3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2" name="Google Shape;92;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1" name="Shape 101"/>
        <p:cNvGrpSpPr/>
        <p:nvPr/>
      </p:nvGrpSpPr>
      <p:grpSpPr>
        <a:xfrm>
          <a:off x="0" y="0"/>
          <a:ext cx="0" cy="0"/>
          <a:chOff x="0" y="0"/>
          <a:chExt cx="0" cy="0"/>
        </a:xfrm>
      </p:grpSpPr>
      <p:sp>
        <p:nvSpPr>
          <p:cNvPr id="102" name="Google Shape;102;p3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3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16.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12.png"/><Relationship Id="rId8"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0.png"/><Relationship Id="rId4" Type="http://schemas.openxmlformats.org/officeDocument/2006/relationships/image" Target="../media/image3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3.jpg"/><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7.png"/><Relationship Id="rId5"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1.jpg"/><Relationship Id="rId4" Type="http://schemas.openxmlformats.org/officeDocument/2006/relationships/image" Target="../media/image2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4.jpg"/><Relationship Id="rId4"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35.png"/><Relationship Id="rId4" Type="http://schemas.openxmlformats.org/officeDocument/2006/relationships/image" Target="../media/image3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descr="https://lh7-us.googleusercontent.com/Qg6x60LuInjOeztPhJj7Os9Q1jjvzFA4gxgnkAWAiJGHPBXigAy1teeDNTEfC-qrJrEXBpjel43ve6frG-fVNTWto4dJi2k9Dqb2jKVGDduhxVBxOheNDwnZxKMurM1WcWmQ_NUJIhlprBbPWQmf8g=s2048" id="112" name="Google Shape;112;p1"/>
          <p:cNvPicPr preferRelativeResize="0"/>
          <p:nvPr/>
        </p:nvPicPr>
        <p:blipFill rotWithShape="1">
          <a:blip r:embed="rId3">
            <a:alphaModFix/>
          </a:blip>
          <a:srcRect b="8103" l="7259" r="0" t="0"/>
          <a:stretch/>
        </p:blipFill>
        <p:spPr>
          <a:xfrm>
            <a:off x="0" y="-144515"/>
            <a:ext cx="11321562" cy="7002515"/>
          </a:xfrm>
          <a:prstGeom prst="rect">
            <a:avLst/>
          </a:prstGeom>
          <a:blipFill rotWithShape="1">
            <a:blip r:embed="rId4">
              <a:alphaModFix amt="52000"/>
            </a:blip>
            <a:stretch>
              <a:fillRect b="0" l="0" r="0" t="0"/>
            </a:stretch>
          </a:blipFill>
          <a:ln>
            <a:noFill/>
          </a:ln>
        </p:spPr>
      </p:pic>
      <p:sp>
        <p:nvSpPr>
          <p:cNvPr id="113" name="Google Shape;113;p1"/>
          <p:cNvSpPr/>
          <p:nvPr/>
        </p:nvSpPr>
        <p:spPr>
          <a:xfrm>
            <a:off x="6537960" y="-144516"/>
            <a:ext cx="5654040" cy="70025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 name="Google Shape;114;p1"/>
          <p:cNvSpPr txBox="1"/>
          <p:nvPr/>
        </p:nvSpPr>
        <p:spPr>
          <a:xfrm>
            <a:off x="6890573" y="4959551"/>
            <a:ext cx="5650358" cy="2017242"/>
          </a:xfrm>
          <a:prstGeom prst="rect">
            <a:avLst/>
          </a:prstGeom>
          <a:noFill/>
          <a:ln>
            <a:noFill/>
          </a:ln>
        </p:spPr>
        <p:txBody>
          <a:bodyPr anchorCtr="0" anchor="t" bIns="45700" lIns="91425" spcFirstLastPara="1" rIns="91425" wrap="square" tIns="45700">
            <a:normAutofit fontScale="55000" lnSpcReduction="20000"/>
          </a:bodyPr>
          <a:lstStyle/>
          <a:p>
            <a:pPr indent="0" lvl="0" marL="0" marR="0" rtl="0" algn="l">
              <a:lnSpc>
                <a:spcPct val="90000"/>
              </a:lnSpc>
              <a:spcBef>
                <a:spcPts val="0"/>
              </a:spcBef>
              <a:spcAft>
                <a:spcPts val="0"/>
              </a:spcAft>
              <a:buClr>
                <a:schemeClr val="dk1"/>
              </a:buClr>
              <a:buSzPct val="100000"/>
              <a:buFont typeface="Arial"/>
              <a:buNone/>
            </a:pPr>
            <a:r>
              <a:rPr b="0" i="0" lang="en-US" sz="3800" u="none" cap="none" strike="noStrike">
                <a:solidFill>
                  <a:schemeClr val="dk1"/>
                </a:solidFill>
                <a:latin typeface="Calibri"/>
                <a:ea typeface="Calibri"/>
                <a:cs typeface="Calibri"/>
                <a:sym typeface="Calibri"/>
              </a:rPr>
              <a:t>N.Lawrence</a:t>
            </a:r>
            <a:r>
              <a:rPr b="0" baseline="30000" i="0" lang="en-US" sz="3800" u="none" cap="none" strike="noStrike">
                <a:solidFill>
                  <a:schemeClr val="dk1"/>
                </a:solidFill>
                <a:latin typeface="Calibri"/>
                <a:ea typeface="Calibri"/>
                <a:cs typeface="Calibri"/>
                <a:sym typeface="Calibri"/>
              </a:rPr>
              <a:t>1</a:t>
            </a:r>
            <a:r>
              <a:rPr b="0" i="0" lang="en-US" sz="3800" u="none" cap="none" strike="noStrike">
                <a:solidFill>
                  <a:schemeClr val="dk1"/>
                </a:solidFill>
                <a:latin typeface="Calibri"/>
                <a:ea typeface="Calibri"/>
                <a:cs typeface="Calibri"/>
                <a:sym typeface="Calibri"/>
              </a:rPr>
              <a:t>, M. Casari</a:t>
            </a:r>
            <a:r>
              <a:rPr b="0" baseline="30000" i="0" lang="en-US" sz="3800" u="none" cap="none" strike="noStrike">
                <a:solidFill>
                  <a:schemeClr val="dk1"/>
                </a:solidFill>
                <a:latin typeface="Calibri"/>
                <a:ea typeface="Calibri"/>
                <a:cs typeface="Calibri"/>
                <a:sym typeface="Calibri"/>
              </a:rPr>
              <a:t>2</a:t>
            </a:r>
            <a:r>
              <a:rPr b="0" i="0" lang="en-US" sz="3800" u="none" cap="none" strike="noStrike">
                <a:solidFill>
                  <a:schemeClr val="dk1"/>
                </a:solidFill>
                <a:latin typeface="Calibri"/>
                <a:ea typeface="Calibri"/>
                <a:cs typeface="Calibri"/>
                <a:sym typeface="Calibri"/>
              </a:rPr>
              <a:t>, B.Martin</a:t>
            </a:r>
            <a:r>
              <a:rPr b="0" baseline="30000" i="0" lang="en-US" sz="3800" u="none" cap="none" strike="noStrike">
                <a:solidFill>
                  <a:schemeClr val="dk1"/>
                </a:solidFill>
                <a:latin typeface="Calibri"/>
                <a:ea typeface="Calibri"/>
                <a:cs typeface="Calibri"/>
                <a:sym typeface="Calibri"/>
              </a:rPr>
              <a:t>1</a:t>
            </a:r>
            <a:r>
              <a:rPr b="0" i="0" lang="en-US" sz="3800" u="none" cap="none" strike="noStrike">
                <a:solidFill>
                  <a:schemeClr val="dk1"/>
                </a:solidFill>
                <a:latin typeface="Calibri"/>
                <a:ea typeface="Calibri"/>
                <a:cs typeface="Calibri"/>
                <a:sym typeface="Calibri"/>
              </a:rPr>
              <a:t>, J.Kurina</a:t>
            </a:r>
            <a:r>
              <a:rPr b="0" baseline="30000" i="0" lang="en-US" sz="3800" u="none" cap="none" strike="noStrike">
                <a:solidFill>
                  <a:schemeClr val="dk1"/>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ct val="100000"/>
              <a:buFont typeface="Arial"/>
              <a:buNone/>
            </a:pPr>
            <a:r>
              <a:rPr b="0" baseline="30000" i="0" lang="en-US" sz="2800" u="none" cap="none" strike="noStrike">
                <a:solidFill>
                  <a:schemeClr val="dk1"/>
                </a:solidFill>
                <a:latin typeface="Calibri"/>
                <a:ea typeface="Calibri"/>
                <a:cs typeface="Calibri"/>
                <a:sym typeface="Calibri"/>
              </a:rPr>
              <a:t>1</a:t>
            </a:r>
            <a:r>
              <a:rPr b="0" i="0" lang="en-US" sz="2800" u="none" cap="none" strike="noStrike">
                <a:solidFill>
                  <a:schemeClr val="dk1"/>
                </a:solidFill>
                <a:latin typeface="Calibri"/>
                <a:ea typeface="Calibri"/>
                <a:cs typeface="Calibri"/>
                <a:sym typeface="Calibri"/>
              </a:rPr>
              <a:t>National Oceanic and Atmospheric Administration</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ct val="100000"/>
              <a:buFont typeface="Arial"/>
              <a:buNone/>
            </a:pPr>
            <a:r>
              <a:rPr b="0" baseline="30000" i="0" lang="en-US" sz="2800" u="none" cap="none" strike="noStrike">
                <a:solidFill>
                  <a:schemeClr val="dk1"/>
                </a:solidFill>
                <a:latin typeface="Calibri"/>
                <a:ea typeface="Calibri"/>
                <a:cs typeface="Calibri"/>
                <a:sym typeface="Calibri"/>
              </a:rPr>
              <a:t>2</a:t>
            </a:r>
            <a:r>
              <a:rPr b="0" i="0" lang="en-US" sz="2800" u="none" cap="none" strike="noStrike">
                <a:solidFill>
                  <a:schemeClr val="dk1"/>
                </a:solidFill>
                <a:latin typeface="Calibri"/>
                <a:ea typeface="Calibri"/>
                <a:cs typeface="Calibri"/>
                <a:sym typeface="Calibri"/>
              </a:rPr>
              <a:t>SeaMount Sensors &amp; Automation, Waterbury, Vermont</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ct val="100000"/>
              <a:buFont typeface="Arial"/>
              <a:buNone/>
            </a:pPr>
            <a:r>
              <a:rPr b="0" baseline="30000" i="0" lang="en-US" sz="2800" u="none" cap="none" strike="noStrike">
                <a:solidFill>
                  <a:schemeClr val="dk1"/>
                </a:solidFill>
                <a:latin typeface="Calibri"/>
                <a:ea typeface="Calibri"/>
                <a:cs typeface="Calibri"/>
                <a:sym typeface="Calibri"/>
              </a:rPr>
              <a:t>3</a:t>
            </a:r>
            <a:r>
              <a:rPr b="0" i="0" lang="en-US" sz="2800" u="none" cap="none" strike="noStrike">
                <a:solidFill>
                  <a:schemeClr val="dk1"/>
                </a:solidFill>
                <a:latin typeface="Calibri"/>
                <a:ea typeface="Calibri"/>
                <a:cs typeface="Calibri"/>
                <a:sym typeface="Calibri"/>
              </a:rPr>
              <a:t>Cooperative Institute for Climate, Ocean, and Ecosystem Studies</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ct val="1000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ct val="100000"/>
              <a:buFont typeface="Arial"/>
              <a:buNone/>
            </a:pPr>
            <a:r>
              <a:rPr b="0" i="0" lang="en-US" sz="3200" u="none" cap="none" strike="noStrike">
                <a:solidFill>
                  <a:schemeClr val="dk1"/>
                </a:solidFill>
                <a:latin typeface="Calibri"/>
                <a:ea typeface="Calibri"/>
                <a:cs typeface="Calibri"/>
                <a:sym typeface="Calibri"/>
              </a:rPr>
              <a:t>PACIFIC MARINE ENVIRONMENTAL LAB | SEATTLE, WA</a:t>
            </a:r>
            <a:endParaRPr b="0" i="0" sz="1400" u="none" cap="none" strike="noStrike">
              <a:solidFill>
                <a:srgbClr val="000000"/>
              </a:solidFill>
              <a:latin typeface="Arial"/>
              <a:ea typeface="Arial"/>
              <a:cs typeface="Arial"/>
              <a:sym typeface="Arial"/>
            </a:endParaRPr>
          </a:p>
          <a:p>
            <a:pPr indent="-130810" lvl="0" marL="228600" marR="0" rtl="0" algn="l">
              <a:lnSpc>
                <a:spcPct val="90000"/>
              </a:lnSpc>
              <a:spcBef>
                <a:spcPts val="1000"/>
              </a:spcBef>
              <a:spcAft>
                <a:spcPts val="0"/>
              </a:spcAft>
              <a:buClr>
                <a:schemeClr val="dk1"/>
              </a:buClr>
              <a:buSzPct val="100000"/>
              <a:buFont typeface="Arial"/>
              <a:buNone/>
            </a:pPr>
            <a:r>
              <a:t/>
            </a:r>
            <a:endParaRPr b="0" baseline="30000" i="0" sz="2800" u="none" cap="none" strike="noStrike">
              <a:solidFill>
                <a:schemeClr val="dk1"/>
              </a:solidFill>
              <a:latin typeface="Calibri"/>
              <a:ea typeface="Calibri"/>
              <a:cs typeface="Calibri"/>
              <a:sym typeface="Calibri"/>
            </a:endParaRPr>
          </a:p>
          <a:p>
            <a:pPr indent="-130810" lvl="0" marL="228600" marR="0" rtl="0" algn="l">
              <a:lnSpc>
                <a:spcPct val="90000"/>
              </a:lnSpc>
              <a:spcBef>
                <a:spcPts val="1000"/>
              </a:spcBef>
              <a:spcAft>
                <a:spcPts val="0"/>
              </a:spcAft>
              <a:buClr>
                <a:schemeClr val="dk1"/>
              </a:buClr>
              <a:buSzPct val="100000"/>
              <a:buFont typeface="Arial"/>
              <a:buNone/>
            </a:pPr>
            <a:r>
              <a:t/>
            </a:r>
            <a:endParaRPr b="0" i="0" sz="2800" u="none" cap="none" strike="noStrike">
              <a:solidFill>
                <a:schemeClr val="dk1"/>
              </a:solidFill>
              <a:latin typeface="Calibri"/>
              <a:ea typeface="Calibri"/>
              <a:cs typeface="Calibri"/>
              <a:sym typeface="Calibri"/>
            </a:endParaRPr>
          </a:p>
        </p:txBody>
      </p:sp>
      <p:pic>
        <p:nvPicPr>
          <p:cNvPr id="115" name="Google Shape;115;p1"/>
          <p:cNvPicPr preferRelativeResize="0"/>
          <p:nvPr/>
        </p:nvPicPr>
        <p:blipFill rotWithShape="1">
          <a:blip r:embed="rId5">
            <a:alphaModFix/>
          </a:blip>
          <a:srcRect b="0" l="0" r="0" t="0"/>
          <a:stretch/>
        </p:blipFill>
        <p:spPr>
          <a:xfrm>
            <a:off x="6914844" y="4189943"/>
            <a:ext cx="657912" cy="657912"/>
          </a:xfrm>
          <a:prstGeom prst="rect">
            <a:avLst/>
          </a:prstGeom>
          <a:noFill/>
          <a:ln>
            <a:noFill/>
          </a:ln>
        </p:spPr>
      </p:pic>
      <p:pic>
        <p:nvPicPr>
          <p:cNvPr descr="Research &amp; Fisheries Icon (transparent).png" id="116" name="Google Shape;116;p1"/>
          <p:cNvPicPr preferRelativeResize="0"/>
          <p:nvPr/>
        </p:nvPicPr>
        <p:blipFill rotWithShape="1">
          <a:blip r:embed="rId6">
            <a:alphaModFix/>
          </a:blip>
          <a:srcRect b="0" l="0" r="58198" t="0"/>
          <a:stretch/>
        </p:blipFill>
        <p:spPr>
          <a:xfrm>
            <a:off x="7698854" y="4189941"/>
            <a:ext cx="1577992" cy="657913"/>
          </a:xfrm>
          <a:prstGeom prst="rect">
            <a:avLst/>
          </a:prstGeom>
          <a:noFill/>
          <a:ln>
            <a:noFill/>
          </a:ln>
        </p:spPr>
      </p:pic>
      <p:sp>
        <p:nvSpPr>
          <p:cNvPr id="117" name="Google Shape;117;p1"/>
          <p:cNvSpPr txBox="1"/>
          <p:nvPr/>
        </p:nvSpPr>
        <p:spPr>
          <a:xfrm>
            <a:off x="6716108" y="0"/>
            <a:ext cx="5475892" cy="37856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i="1" lang="en-US" sz="5400" u="none" cap="none" strike="noStrike">
                <a:solidFill>
                  <a:srgbClr val="003087"/>
                </a:solidFill>
                <a:latin typeface="PT Serif"/>
                <a:ea typeface="PT Serif"/>
                <a:cs typeface="PT Serif"/>
                <a:sym typeface="PT Serif"/>
              </a:rPr>
              <a:t>The Low Cost Profiler (LCP)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1" sz="2400" u="none" cap="none" strike="noStrike">
              <a:solidFill>
                <a:srgbClr val="003087"/>
              </a:solidFill>
              <a:latin typeface="PT Serif"/>
              <a:ea typeface="PT Serif"/>
              <a:cs typeface="PT Serif"/>
              <a:sym typeface="PT Serif"/>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Open Sans"/>
                <a:ea typeface="Open Sans"/>
                <a:cs typeface="Open Sans"/>
                <a:sym typeface="Open Sans"/>
              </a:rPr>
              <a:t>An affordable profiler to enable ocean science at scale</a:t>
            </a:r>
            <a:endParaRPr b="0" i="0" sz="1400" u="none" cap="none" strike="noStrike">
              <a:solidFill>
                <a:srgbClr val="000000"/>
              </a:solidFill>
              <a:latin typeface="Arial"/>
              <a:ea typeface="Arial"/>
              <a:cs typeface="Arial"/>
              <a:sym typeface="Arial"/>
            </a:endParaRPr>
          </a:p>
        </p:txBody>
      </p:sp>
      <p:pic>
        <p:nvPicPr>
          <p:cNvPr id="118" name="Google Shape;118;p1"/>
          <p:cNvPicPr preferRelativeResize="0"/>
          <p:nvPr/>
        </p:nvPicPr>
        <p:blipFill rotWithShape="1">
          <a:blip r:embed="rId7">
            <a:alphaModFix/>
          </a:blip>
          <a:srcRect b="0" l="0" r="0" t="0"/>
          <a:stretch/>
        </p:blipFill>
        <p:spPr>
          <a:xfrm>
            <a:off x="10137028" y="4160546"/>
            <a:ext cx="1638176" cy="716702"/>
          </a:xfrm>
          <a:prstGeom prst="rect">
            <a:avLst/>
          </a:prstGeom>
          <a:noFill/>
          <a:ln>
            <a:noFill/>
          </a:ln>
        </p:spPr>
      </p:pic>
      <p:pic>
        <p:nvPicPr>
          <p:cNvPr id="119" name="Google Shape;119;p1"/>
          <p:cNvPicPr preferRelativeResize="0"/>
          <p:nvPr/>
        </p:nvPicPr>
        <p:blipFill rotWithShape="1">
          <a:blip r:embed="rId8">
            <a:alphaModFix/>
          </a:blip>
          <a:srcRect b="0" l="0" r="0" t="0"/>
          <a:stretch/>
        </p:blipFill>
        <p:spPr>
          <a:xfrm>
            <a:off x="10271317" y="3372643"/>
            <a:ext cx="1503887" cy="52597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g3550ac73528_0_2"/>
          <p:cNvPicPr preferRelativeResize="0"/>
          <p:nvPr/>
        </p:nvPicPr>
        <p:blipFill>
          <a:blip r:embed="rId3">
            <a:alphaModFix/>
          </a:blip>
          <a:stretch>
            <a:fillRect/>
          </a:stretch>
        </p:blipFill>
        <p:spPr>
          <a:xfrm>
            <a:off x="0" y="0"/>
            <a:ext cx="12192000" cy="6858000"/>
          </a:xfrm>
          <a:prstGeom prst="rect">
            <a:avLst/>
          </a:prstGeom>
          <a:noFill/>
          <a:ln>
            <a:noFill/>
          </a:ln>
        </p:spPr>
      </p:pic>
      <p:pic>
        <p:nvPicPr>
          <p:cNvPr descr="World map with locations of tsunami monitoring from NDBC" id="126" name="Google Shape;126;g3550ac73528_0_2"/>
          <p:cNvPicPr preferRelativeResize="0"/>
          <p:nvPr/>
        </p:nvPicPr>
        <p:blipFill rotWithShape="1">
          <a:blip r:embed="rId4">
            <a:alphaModFix/>
          </a:blip>
          <a:srcRect b="0" l="0" r="0" t="10793"/>
          <a:stretch/>
        </p:blipFill>
        <p:spPr>
          <a:xfrm>
            <a:off x="0" y="4411225"/>
            <a:ext cx="3963450" cy="2446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5"/>
          <p:cNvSpPr txBox="1"/>
          <p:nvPr>
            <p:ph type="title"/>
          </p:nvPr>
        </p:nvSpPr>
        <p:spPr>
          <a:xfrm>
            <a:off x="157316" y="46802"/>
            <a:ext cx="12034684" cy="876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3087"/>
              </a:buClr>
              <a:buSzPts val="1100"/>
              <a:buFont typeface="PT Serif"/>
              <a:buNone/>
            </a:pPr>
            <a:r>
              <a:rPr lang="en-US" sz="3733"/>
              <a:t>Ocean Observation Tech Development: LCP</a:t>
            </a:r>
            <a:endParaRPr sz="3733"/>
          </a:p>
        </p:txBody>
      </p:sp>
      <p:sp>
        <p:nvSpPr>
          <p:cNvPr id="132" name="Google Shape;132;p5"/>
          <p:cNvSpPr txBox="1"/>
          <p:nvPr/>
        </p:nvSpPr>
        <p:spPr>
          <a:xfrm>
            <a:off x="232412" y="1973921"/>
            <a:ext cx="4773514" cy="3108503"/>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Libre Franklin"/>
                <a:ea typeface="Libre Franklin"/>
                <a:cs typeface="Libre Franklin"/>
                <a:sym typeface="Libre Franklin"/>
              </a:rPr>
              <a:t>LCP Product</a:t>
            </a:r>
            <a:endParaRPr b="0" i="0" sz="1400" u="none" cap="none" strike="noStrike">
              <a:solidFill>
                <a:schemeClr val="dk1"/>
              </a:solidFill>
              <a:latin typeface="Arial"/>
              <a:ea typeface="Arial"/>
              <a:cs typeface="Arial"/>
              <a:sym typeface="Arial"/>
            </a:endParaRPr>
          </a:p>
          <a:p>
            <a:pPr indent="-279400" lvl="0" marL="457200" marR="0" rtl="0" algn="l">
              <a:lnSpc>
                <a:spcPct val="100000"/>
              </a:lnSpc>
              <a:spcBef>
                <a:spcPts val="0"/>
              </a:spcBef>
              <a:spcAft>
                <a:spcPts val="0"/>
              </a:spcAft>
              <a:buClr>
                <a:schemeClr val="dk1"/>
              </a:buClr>
              <a:buSzPts val="2800"/>
              <a:buFont typeface="Arial"/>
              <a:buNone/>
            </a:pPr>
            <a:r>
              <a:t/>
            </a:r>
            <a:endParaRPr b="0" i="0" sz="2800" u="none" cap="none" strike="noStrike">
              <a:solidFill>
                <a:schemeClr val="dk1"/>
              </a:solidFill>
              <a:latin typeface="Libre Franklin"/>
              <a:ea typeface="Libre Franklin"/>
              <a:cs typeface="Libre Franklin"/>
              <a:sym typeface="Libre Franklin"/>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Libre Franklin"/>
                <a:ea typeface="Libre Franklin"/>
                <a:cs typeface="Libre Franklin"/>
                <a:sym typeface="Libre Franklin"/>
              </a:rPr>
              <a:t>Science Applications</a:t>
            </a:r>
            <a:endParaRPr b="0" i="0" sz="1400" u="none" cap="none" strike="noStrike">
              <a:solidFill>
                <a:schemeClr val="dk1"/>
              </a:solidFill>
              <a:latin typeface="Arial"/>
              <a:ea typeface="Arial"/>
              <a:cs typeface="Arial"/>
              <a:sym typeface="Arial"/>
            </a:endParaRPr>
          </a:p>
          <a:p>
            <a:pPr indent="-279400" lvl="0" marL="457200" marR="0" rtl="0" algn="l">
              <a:lnSpc>
                <a:spcPct val="100000"/>
              </a:lnSpc>
              <a:spcBef>
                <a:spcPts val="0"/>
              </a:spcBef>
              <a:spcAft>
                <a:spcPts val="0"/>
              </a:spcAft>
              <a:buClr>
                <a:schemeClr val="dk1"/>
              </a:buClr>
              <a:buSzPts val="2800"/>
              <a:buFont typeface="Arial"/>
              <a:buNone/>
            </a:pPr>
            <a:r>
              <a:t/>
            </a:r>
            <a:endParaRPr b="0" i="0" sz="2800" u="none" cap="none" strike="noStrike">
              <a:solidFill>
                <a:schemeClr val="dk1"/>
              </a:solidFill>
              <a:latin typeface="Libre Franklin"/>
              <a:ea typeface="Libre Franklin"/>
              <a:cs typeface="Libre Franklin"/>
              <a:sym typeface="Libre Franklin"/>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Libre Franklin"/>
                <a:ea typeface="Libre Franklin"/>
                <a:cs typeface="Libre Franklin"/>
                <a:sym typeface="Libre Franklin"/>
              </a:rPr>
              <a:t>Progress</a:t>
            </a:r>
            <a:endParaRPr b="0" i="0" sz="1400" u="none" cap="none" strike="noStrike">
              <a:solidFill>
                <a:srgbClr val="000000"/>
              </a:solidFill>
              <a:latin typeface="Arial"/>
              <a:ea typeface="Arial"/>
              <a:cs typeface="Arial"/>
              <a:sym typeface="Arial"/>
            </a:endParaRPr>
          </a:p>
          <a:p>
            <a:pPr indent="-279400" lvl="0" marL="457200" marR="0" rtl="0" algn="l">
              <a:lnSpc>
                <a:spcPct val="100000"/>
              </a:lnSpc>
              <a:spcBef>
                <a:spcPts val="0"/>
              </a:spcBef>
              <a:spcAft>
                <a:spcPts val="0"/>
              </a:spcAft>
              <a:buClr>
                <a:schemeClr val="dk1"/>
              </a:buClr>
              <a:buSzPts val="2800"/>
              <a:buFont typeface="Arial"/>
              <a:buNone/>
            </a:pPr>
            <a:r>
              <a:t/>
            </a:r>
            <a:endParaRPr b="0" i="0" sz="2800" u="none" cap="none" strike="noStrike">
              <a:solidFill>
                <a:schemeClr val="dk1"/>
              </a:solidFill>
              <a:latin typeface="Libre Franklin"/>
              <a:ea typeface="Libre Franklin"/>
              <a:cs typeface="Libre Franklin"/>
              <a:sym typeface="Libre Franklin"/>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Libre Franklin"/>
                <a:ea typeface="Libre Franklin"/>
                <a:cs typeface="Libre Franklin"/>
                <a:sym typeface="Libre Franklin"/>
              </a:rPr>
              <a:t>Future Plans/Needs </a:t>
            </a:r>
            <a:endParaRPr b="0" i="0" sz="1400" u="none" cap="none" strike="noStrike">
              <a:solidFill>
                <a:srgbClr val="000000"/>
              </a:solidFill>
              <a:latin typeface="Arial"/>
              <a:ea typeface="Arial"/>
              <a:cs typeface="Arial"/>
              <a:sym typeface="Arial"/>
            </a:endParaRPr>
          </a:p>
        </p:txBody>
      </p:sp>
      <p:pic>
        <p:nvPicPr>
          <p:cNvPr id="133" name="Google Shape;133;p5"/>
          <p:cNvPicPr preferRelativeResize="0"/>
          <p:nvPr/>
        </p:nvPicPr>
        <p:blipFill rotWithShape="1">
          <a:blip r:embed="rId3">
            <a:alphaModFix/>
          </a:blip>
          <a:srcRect b="0" l="26755" r="4815" t="30858"/>
          <a:stretch/>
        </p:blipFill>
        <p:spPr>
          <a:xfrm>
            <a:off x="4930829" y="1089330"/>
            <a:ext cx="7028759" cy="532657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ph type="title"/>
          </p:nvPr>
        </p:nvSpPr>
        <p:spPr>
          <a:xfrm>
            <a:off x="108285" y="50761"/>
            <a:ext cx="12083716" cy="1103318"/>
          </a:xfrm>
          <a:prstGeom prst="rect">
            <a:avLst/>
          </a:prstGeom>
          <a:noFill/>
          <a:ln>
            <a:noFill/>
          </a:ln>
        </p:spPr>
        <p:txBody>
          <a:bodyPr anchorCtr="0" anchor="ctr" bIns="45525" lIns="91100" spcFirstLastPara="1" rIns="91100" wrap="square" tIns="45525">
            <a:noAutofit/>
          </a:bodyPr>
          <a:lstStyle/>
          <a:p>
            <a:pPr indent="0" lvl="0" marL="0" rtl="0" algn="l">
              <a:lnSpc>
                <a:spcPct val="115000"/>
              </a:lnSpc>
              <a:spcBef>
                <a:spcPts val="0"/>
              </a:spcBef>
              <a:spcAft>
                <a:spcPts val="0"/>
              </a:spcAft>
              <a:buClr>
                <a:srgbClr val="003087"/>
              </a:buClr>
              <a:buSzPts val="2900"/>
              <a:buFont typeface="PT Serif"/>
              <a:buNone/>
            </a:pPr>
            <a:r>
              <a:rPr lang="en-US" sz="3750"/>
              <a:t>Low Cost Profiler (LCP): </a:t>
            </a:r>
            <a:endParaRPr b="0" i="0" sz="2800">
              <a:solidFill>
                <a:schemeClr val="dk1"/>
              </a:solidFill>
              <a:latin typeface="Open Sans"/>
              <a:ea typeface="Open Sans"/>
              <a:cs typeface="Open Sans"/>
              <a:sym typeface="Open Sans"/>
            </a:endParaRPr>
          </a:p>
        </p:txBody>
      </p:sp>
      <p:sp>
        <p:nvSpPr>
          <p:cNvPr id="139" name="Google Shape;139;p9"/>
          <p:cNvSpPr txBox="1"/>
          <p:nvPr/>
        </p:nvSpPr>
        <p:spPr>
          <a:xfrm>
            <a:off x="6344932" y="1329971"/>
            <a:ext cx="2397273" cy="102273"/>
          </a:xfrm>
          <a:prstGeom prst="rect">
            <a:avLst/>
          </a:prstGeom>
          <a:noFill/>
          <a:ln>
            <a:noFill/>
          </a:ln>
        </p:spPr>
        <p:txBody>
          <a:bodyPr anchorCtr="0" anchor="t" bIns="62325" lIns="62325" spcFirstLastPara="1" rIns="62325" wrap="square" tIns="31150">
            <a:noAutofit/>
          </a:bodyPr>
          <a:lstStyle/>
          <a:p>
            <a:pPr indent="0" lvl="0" marL="0" marR="0" rtl="0" algn="ctr">
              <a:lnSpc>
                <a:spcPct val="115000"/>
              </a:lnSpc>
              <a:spcBef>
                <a:spcPts val="0"/>
              </a:spcBef>
              <a:spcAft>
                <a:spcPts val="205"/>
              </a:spcAft>
              <a:buClr>
                <a:srgbClr val="000000"/>
              </a:buClr>
              <a:buSzPts val="682"/>
              <a:buFont typeface="Arial"/>
              <a:buNone/>
            </a:pPr>
            <a:r>
              <a:rPr b="1" i="0" lang="en-US" sz="682" u="none" cap="none" strike="noStrike">
                <a:solidFill>
                  <a:srgbClr val="FFFFFF"/>
                </a:solidFill>
                <a:latin typeface="Open Sans"/>
                <a:ea typeface="Open Sans"/>
                <a:cs typeface="Open Sans"/>
                <a:sym typeface="Open Sans"/>
              </a:rPr>
              <a:t>BASIC PROFILE MODE</a:t>
            </a:r>
            <a:endParaRPr b="1" i="0" sz="682" u="none" cap="none" strike="noStrike">
              <a:solidFill>
                <a:srgbClr val="FFFFFF"/>
              </a:solidFill>
              <a:latin typeface="Open Sans"/>
              <a:ea typeface="Open Sans"/>
              <a:cs typeface="Open Sans"/>
              <a:sym typeface="Open Sans"/>
            </a:endParaRPr>
          </a:p>
        </p:txBody>
      </p:sp>
      <p:sp>
        <p:nvSpPr>
          <p:cNvPr id="140" name="Google Shape;140;p9"/>
          <p:cNvSpPr txBox="1"/>
          <p:nvPr/>
        </p:nvSpPr>
        <p:spPr>
          <a:xfrm>
            <a:off x="8783079" y="1329971"/>
            <a:ext cx="2397273" cy="102273"/>
          </a:xfrm>
          <a:prstGeom prst="rect">
            <a:avLst/>
          </a:prstGeom>
          <a:noFill/>
          <a:ln>
            <a:noFill/>
          </a:ln>
        </p:spPr>
        <p:txBody>
          <a:bodyPr anchorCtr="0" anchor="t" bIns="62325" lIns="62325" spcFirstLastPara="1" rIns="62325" wrap="square" tIns="31150">
            <a:noAutofit/>
          </a:bodyPr>
          <a:lstStyle/>
          <a:p>
            <a:pPr indent="0" lvl="0" marL="0" marR="0" rtl="0" algn="ctr">
              <a:lnSpc>
                <a:spcPct val="115000"/>
              </a:lnSpc>
              <a:spcBef>
                <a:spcPts val="0"/>
              </a:spcBef>
              <a:spcAft>
                <a:spcPts val="205"/>
              </a:spcAft>
              <a:buClr>
                <a:srgbClr val="000000"/>
              </a:buClr>
              <a:buSzPts val="682"/>
              <a:buFont typeface="Arial"/>
              <a:buNone/>
            </a:pPr>
            <a:r>
              <a:rPr b="1" i="0" lang="en-US" sz="682" u="none" cap="none" strike="noStrike">
                <a:solidFill>
                  <a:srgbClr val="FFFFFF"/>
                </a:solidFill>
                <a:latin typeface="Open Sans"/>
                <a:ea typeface="Open Sans"/>
                <a:cs typeface="Open Sans"/>
                <a:sym typeface="Open Sans"/>
              </a:rPr>
              <a:t>TRACKING PROFILE MODE</a:t>
            </a:r>
            <a:endParaRPr b="1" i="0" sz="682" u="none" cap="none" strike="noStrike">
              <a:solidFill>
                <a:srgbClr val="FFFFFF"/>
              </a:solidFill>
              <a:latin typeface="Open Sans"/>
              <a:ea typeface="Open Sans"/>
              <a:cs typeface="Open Sans"/>
              <a:sym typeface="Open Sans"/>
            </a:endParaRPr>
          </a:p>
        </p:txBody>
      </p:sp>
      <p:sp>
        <p:nvSpPr>
          <p:cNvPr id="141" name="Google Shape;141;p9"/>
          <p:cNvSpPr/>
          <p:nvPr/>
        </p:nvSpPr>
        <p:spPr>
          <a:xfrm>
            <a:off x="8853239" y="1206085"/>
            <a:ext cx="2397273" cy="2657455"/>
          </a:xfrm>
          <a:prstGeom prst="rect">
            <a:avLst/>
          </a:prstGeom>
          <a:solidFill>
            <a:srgbClr val="FFFFFF"/>
          </a:solidFill>
          <a:ln cap="flat" cmpd="sng" w="9525">
            <a:solidFill>
              <a:srgbClr val="666666"/>
            </a:solidFill>
            <a:prstDash val="solid"/>
            <a:round/>
            <a:headEnd len="sm" w="sm" type="none"/>
            <a:tailEnd len="sm" w="sm" type="none"/>
          </a:ln>
        </p:spPr>
        <p:txBody>
          <a:bodyPr anchorCtr="0" anchor="ctr" bIns="62325" lIns="62325" spcFirstLastPara="1" rIns="62325" wrap="square" tIns="62325">
            <a:noAutofit/>
          </a:bodyPr>
          <a:lstStyle/>
          <a:p>
            <a:pPr indent="0" lvl="0" marL="0" marR="0" rtl="0" algn="l">
              <a:lnSpc>
                <a:spcPct val="100000"/>
              </a:lnSpc>
              <a:spcBef>
                <a:spcPts val="0"/>
              </a:spcBef>
              <a:spcAft>
                <a:spcPts val="0"/>
              </a:spcAft>
              <a:buClr>
                <a:srgbClr val="000000"/>
              </a:buClr>
              <a:buSzPts val="1227"/>
              <a:buFont typeface="Arial"/>
              <a:buNone/>
            </a:pPr>
            <a:r>
              <a:t/>
            </a:r>
            <a:endParaRPr b="0" i="0" sz="1227" u="none" cap="none" strike="noStrike">
              <a:solidFill>
                <a:schemeClr val="dk1"/>
              </a:solidFill>
              <a:latin typeface="Calibri"/>
              <a:ea typeface="Calibri"/>
              <a:cs typeface="Calibri"/>
              <a:sym typeface="Calibri"/>
            </a:endParaRPr>
          </a:p>
        </p:txBody>
      </p:sp>
      <p:pic>
        <p:nvPicPr>
          <p:cNvPr id="142" name="Google Shape;142;p9"/>
          <p:cNvPicPr preferRelativeResize="0"/>
          <p:nvPr/>
        </p:nvPicPr>
        <p:blipFill rotWithShape="1">
          <a:blip r:embed="rId3">
            <a:alphaModFix/>
          </a:blip>
          <a:srcRect b="0" l="50716" r="0" t="289"/>
          <a:stretch/>
        </p:blipFill>
        <p:spPr>
          <a:xfrm>
            <a:off x="8937887" y="1423858"/>
            <a:ext cx="2265036" cy="2434006"/>
          </a:xfrm>
          <a:prstGeom prst="rect">
            <a:avLst/>
          </a:prstGeom>
          <a:noFill/>
          <a:ln>
            <a:noFill/>
          </a:ln>
        </p:spPr>
      </p:pic>
      <p:sp>
        <p:nvSpPr>
          <p:cNvPr id="143" name="Google Shape;143;p9"/>
          <p:cNvSpPr/>
          <p:nvPr/>
        </p:nvSpPr>
        <p:spPr>
          <a:xfrm>
            <a:off x="6415091" y="1206085"/>
            <a:ext cx="2397273" cy="2657455"/>
          </a:xfrm>
          <a:prstGeom prst="rect">
            <a:avLst/>
          </a:prstGeom>
          <a:solidFill>
            <a:srgbClr val="FFFFFF"/>
          </a:solidFill>
          <a:ln cap="flat" cmpd="sng" w="9525">
            <a:solidFill>
              <a:srgbClr val="666666"/>
            </a:solidFill>
            <a:prstDash val="solid"/>
            <a:round/>
            <a:headEnd len="sm" w="sm" type="none"/>
            <a:tailEnd len="sm" w="sm" type="none"/>
          </a:ln>
        </p:spPr>
        <p:txBody>
          <a:bodyPr anchorCtr="0" anchor="ctr" bIns="62325" lIns="62325" spcFirstLastPara="1" rIns="62325" wrap="square" tIns="62325">
            <a:noAutofit/>
          </a:bodyPr>
          <a:lstStyle/>
          <a:p>
            <a:pPr indent="0" lvl="0" marL="0" marR="0" rtl="0" algn="l">
              <a:lnSpc>
                <a:spcPct val="100000"/>
              </a:lnSpc>
              <a:spcBef>
                <a:spcPts val="0"/>
              </a:spcBef>
              <a:spcAft>
                <a:spcPts val="0"/>
              </a:spcAft>
              <a:buClr>
                <a:srgbClr val="000000"/>
              </a:buClr>
              <a:buSzPts val="1227"/>
              <a:buFont typeface="Arial"/>
              <a:buNone/>
            </a:pPr>
            <a:r>
              <a:t/>
            </a:r>
            <a:endParaRPr b="0" i="0" sz="1227" u="none" cap="none" strike="noStrike">
              <a:solidFill>
                <a:schemeClr val="dk1"/>
              </a:solidFill>
              <a:latin typeface="Calibri"/>
              <a:ea typeface="Calibri"/>
              <a:cs typeface="Calibri"/>
              <a:sym typeface="Calibri"/>
            </a:endParaRPr>
          </a:p>
        </p:txBody>
      </p:sp>
      <p:pic>
        <p:nvPicPr>
          <p:cNvPr id="144" name="Google Shape;144;p9"/>
          <p:cNvPicPr preferRelativeResize="0"/>
          <p:nvPr/>
        </p:nvPicPr>
        <p:blipFill rotWithShape="1">
          <a:blip r:embed="rId3">
            <a:alphaModFix/>
          </a:blip>
          <a:srcRect b="0" l="0" r="49909" t="289"/>
          <a:stretch/>
        </p:blipFill>
        <p:spPr>
          <a:xfrm>
            <a:off x="6472892" y="1423858"/>
            <a:ext cx="2302077" cy="2434006"/>
          </a:xfrm>
          <a:prstGeom prst="rect">
            <a:avLst/>
          </a:prstGeom>
          <a:noFill/>
          <a:ln>
            <a:noFill/>
          </a:ln>
        </p:spPr>
      </p:pic>
      <p:sp>
        <p:nvSpPr>
          <p:cNvPr id="145" name="Google Shape;145;p9"/>
          <p:cNvSpPr/>
          <p:nvPr/>
        </p:nvSpPr>
        <p:spPr>
          <a:xfrm>
            <a:off x="6415091" y="3915537"/>
            <a:ext cx="2397273" cy="2657455"/>
          </a:xfrm>
          <a:prstGeom prst="rect">
            <a:avLst/>
          </a:prstGeom>
          <a:solidFill>
            <a:srgbClr val="FFFFFF"/>
          </a:solidFill>
          <a:ln cap="flat" cmpd="sng" w="9525">
            <a:solidFill>
              <a:srgbClr val="666666"/>
            </a:solidFill>
            <a:prstDash val="solid"/>
            <a:round/>
            <a:headEnd len="sm" w="sm" type="none"/>
            <a:tailEnd len="sm" w="sm" type="none"/>
          </a:ln>
        </p:spPr>
        <p:txBody>
          <a:bodyPr anchorCtr="0" anchor="ctr" bIns="62325" lIns="62325" spcFirstLastPara="1" rIns="62325" wrap="square" tIns="62325">
            <a:noAutofit/>
          </a:bodyPr>
          <a:lstStyle/>
          <a:p>
            <a:pPr indent="0" lvl="0" marL="0" marR="0" rtl="0" algn="l">
              <a:lnSpc>
                <a:spcPct val="100000"/>
              </a:lnSpc>
              <a:spcBef>
                <a:spcPts val="0"/>
              </a:spcBef>
              <a:spcAft>
                <a:spcPts val="0"/>
              </a:spcAft>
              <a:buClr>
                <a:srgbClr val="000000"/>
              </a:buClr>
              <a:buSzPts val="1227"/>
              <a:buFont typeface="Arial"/>
              <a:buNone/>
            </a:pPr>
            <a:r>
              <a:t/>
            </a:r>
            <a:endParaRPr b="0" i="0" sz="1227" u="none" cap="none" strike="noStrike">
              <a:solidFill>
                <a:schemeClr val="dk1"/>
              </a:solidFill>
              <a:latin typeface="Calibri"/>
              <a:ea typeface="Calibri"/>
              <a:cs typeface="Calibri"/>
              <a:sym typeface="Calibri"/>
            </a:endParaRPr>
          </a:p>
        </p:txBody>
      </p:sp>
      <p:pic>
        <p:nvPicPr>
          <p:cNvPr id="146" name="Google Shape;146;p9"/>
          <p:cNvPicPr preferRelativeResize="0"/>
          <p:nvPr/>
        </p:nvPicPr>
        <p:blipFill rotWithShape="1">
          <a:blip r:embed="rId4">
            <a:alphaModFix/>
          </a:blip>
          <a:srcRect b="0" l="0" r="50548" t="6785"/>
          <a:stretch/>
        </p:blipFill>
        <p:spPr>
          <a:xfrm>
            <a:off x="6499492" y="3977173"/>
            <a:ext cx="2227962" cy="2582652"/>
          </a:xfrm>
          <a:prstGeom prst="rect">
            <a:avLst/>
          </a:prstGeom>
          <a:noFill/>
          <a:ln>
            <a:noFill/>
          </a:ln>
        </p:spPr>
      </p:pic>
      <p:sp>
        <p:nvSpPr>
          <p:cNvPr id="147" name="Google Shape;147;p9"/>
          <p:cNvSpPr/>
          <p:nvPr/>
        </p:nvSpPr>
        <p:spPr>
          <a:xfrm>
            <a:off x="6414835" y="1206085"/>
            <a:ext cx="2397273" cy="168955"/>
          </a:xfrm>
          <a:prstGeom prst="rect">
            <a:avLst/>
          </a:prstGeom>
          <a:solidFill>
            <a:srgbClr val="434343"/>
          </a:solidFill>
          <a:ln>
            <a:noFill/>
          </a:ln>
        </p:spPr>
        <p:txBody>
          <a:bodyPr anchorCtr="0" anchor="ctr" bIns="62325" lIns="62325" spcFirstLastPara="1" rIns="62325" wrap="square" tIns="62325">
            <a:noAutofit/>
          </a:bodyPr>
          <a:lstStyle/>
          <a:p>
            <a:pPr indent="0" lvl="0" marL="0" marR="0" rtl="0" algn="l">
              <a:lnSpc>
                <a:spcPct val="100000"/>
              </a:lnSpc>
              <a:spcBef>
                <a:spcPts val="0"/>
              </a:spcBef>
              <a:spcAft>
                <a:spcPts val="0"/>
              </a:spcAft>
              <a:buClr>
                <a:srgbClr val="000000"/>
              </a:buClr>
              <a:buSzPts val="1227"/>
              <a:buFont typeface="Arial"/>
              <a:buNone/>
            </a:pPr>
            <a:r>
              <a:t/>
            </a:r>
            <a:endParaRPr b="0" i="0" sz="1227" u="none" cap="none" strike="noStrike">
              <a:solidFill>
                <a:schemeClr val="dk1"/>
              </a:solidFill>
              <a:latin typeface="Calibri"/>
              <a:ea typeface="Calibri"/>
              <a:cs typeface="Calibri"/>
              <a:sym typeface="Calibri"/>
            </a:endParaRPr>
          </a:p>
        </p:txBody>
      </p:sp>
      <p:sp>
        <p:nvSpPr>
          <p:cNvPr id="148" name="Google Shape;148;p9"/>
          <p:cNvSpPr txBox="1"/>
          <p:nvPr/>
        </p:nvSpPr>
        <p:spPr>
          <a:xfrm>
            <a:off x="6415091" y="1212784"/>
            <a:ext cx="2397273" cy="102273"/>
          </a:xfrm>
          <a:prstGeom prst="rect">
            <a:avLst/>
          </a:prstGeom>
          <a:noFill/>
          <a:ln>
            <a:noFill/>
          </a:ln>
        </p:spPr>
        <p:txBody>
          <a:bodyPr anchorCtr="0" anchor="t" bIns="62325" lIns="62325" spcFirstLastPara="1" rIns="62325" wrap="square" tIns="31150">
            <a:noAutofit/>
          </a:bodyPr>
          <a:lstStyle/>
          <a:p>
            <a:pPr indent="0" lvl="0" marL="0" marR="0" rtl="0" algn="ctr">
              <a:lnSpc>
                <a:spcPct val="115000"/>
              </a:lnSpc>
              <a:spcBef>
                <a:spcPts val="0"/>
              </a:spcBef>
              <a:spcAft>
                <a:spcPts val="205"/>
              </a:spcAft>
              <a:buClr>
                <a:srgbClr val="000000"/>
              </a:buClr>
              <a:buSzPts val="682"/>
              <a:buFont typeface="Arial"/>
              <a:buNone/>
            </a:pPr>
            <a:r>
              <a:rPr b="1" i="0" lang="en-US" sz="682" u="none" cap="none" strike="noStrike">
                <a:solidFill>
                  <a:srgbClr val="FFFFFF"/>
                </a:solidFill>
                <a:latin typeface="Open Sans"/>
                <a:ea typeface="Open Sans"/>
                <a:cs typeface="Open Sans"/>
                <a:sym typeface="Open Sans"/>
              </a:rPr>
              <a:t>BASIC PROFILE MODE</a:t>
            </a:r>
            <a:endParaRPr b="1" i="0" sz="682" u="none" cap="none" strike="noStrike">
              <a:solidFill>
                <a:srgbClr val="FFFFFF"/>
              </a:solidFill>
              <a:latin typeface="Open Sans"/>
              <a:ea typeface="Open Sans"/>
              <a:cs typeface="Open Sans"/>
              <a:sym typeface="Open Sans"/>
            </a:endParaRPr>
          </a:p>
        </p:txBody>
      </p:sp>
      <p:sp>
        <p:nvSpPr>
          <p:cNvPr id="149" name="Google Shape;149;p9"/>
          <p:cNvSpPr/>
          <p:nvPr/>
        </p:nvSpPr>
        <p:spPr>
          <a:xfrm>
            <a:off x="8852983" y="1206085"/>
            <a:ext cx="2397273" cy="168955"/>
          </a:xfrm>
          <a:prstGeom prst="rect">
            <a:avLst/>
          </a:prstGeom>
          <a:solidFill>
            <a:srgbClr val="434343"/>
          </a:solidFill>
          <a:ln>
            <a:noFill/>
          </a:ln>
        </p:spPr>
        <p:txBody>
          <a:bodyPr anchorCtr="0" anchor="ctr" bIns="62325" lIns="62325" spcFirstLastPara="1" rIns="62325" wrap="square" tIns="62325">
            <a:noAutofit/>
          </a:bodyPr>
          <a:lstStyle/>
          <a:p>
            <a:pPr indent="0" lvl="0" marL="0" marR="0" rtl="0" algn="l">
              <a:lnSpc>
                <a:spcPct val="100000"/>
              </a:lnSpc>
              <a:spcBef>
                <a:spcPts val="0"/>
              </a:spcBef>
              <a:spcAft>
                <a:spcPts val="0"/>
              </a:spcAft>
              <a:buClr>
                <a:srgbClr val="000000"/>
              </a:buClr>
              <a:buSzPts val="1227"/>
              <a:buFont typeface="Arial"/>
              <a:buNone/>
            </a:pPr>
            <a:r>
              <a:t/>
            </a:r>
            <a:endParaRPr b="0" i="0" sz="1227" u="none" cap="none" strike="noStrike">
              <a:solidFill>
                <a:schemeClr val="dk1"/>
              </a:solidFill>
              <a:latin typeface="Calibri"/>
              <a:ea typeface="Calibri"/>
              <a:cs typeface="Calibri"/>
              <a:sym typeface="Calibri"/>
            </a:endParaRPr>
          </a:p>
        </p:txBody>
      </p:sp>
      <p:sp>
        <p:nvSpPr>
          <p:cNvPr id="150" name="Google Shape;150;p9"/>
          <p:cNvSpPr txBox="1"/>
          <p:nvPr/>
        </p:nvSpPr>
        <p:spPr>
          <a:xfrm>
            <a:off x="8853239" y="1212784"/>
            <a:ext cx="2397273" cy="102273"/>
          </a:xfrm>
          <a:prstGeom prst="rect">
            <a:avLst/>
          </a:prstGeom>
          <a:noFill/>
          <a:ln>
            <a:noFill/>
          </a:ln>
        </p:spPr>
        <p:txBody>
          <a:bodyPr anchorCtr="0" anchor="t" bIns="62325" lIns="62325" spcFirstLastPara="1" rIns="62325" wrap="square" tIns="31150">
            <a:noAutofit/>
          </a:bodyPr>
          <a:lstStyle/>
          <a:p>
            <a:pPr indent="0" lvl="0" marL="0" marR="0" rtl="0" algn="ctr">
              <a:lnSpc>
                <a:spcPct val="115000"/>
              </a:lnSpc>
              <a:spcBef>
                <a:spcPts val="0"/>
              </a:spcBef>
              <a:spcAft>
                <a:spcPts val="205"/>
              </a:spcAft>
              <a:buClr>
                <a:srgbClr val="000000"/>
              </a:buClr>
              <a:buSzPts val="682"/>
              <a:buFont typeface="Arial"/>
              <a:buNone/>
            </a:pPr>
            <a:r>
              <a:rPr b="1" i="0" lang="en-US" sz="682" u="none" cap="none" strike="noStrike">
                <a:solidFill>
                  <a:srgbClr val="FFFFFF"/>
                </a:solidFill>
                <a:latin typeface="Open Sans"/>
                <a:ea typeface="Open Sans"/>
                <a:cs typeface="Open Sans"/>
                <a:sym typeface="Open Sans"/>
              </a:rPr>
              <a:t>TRACKING PROFILE MODE</a:t>
            </a:r>
            <a:endParaRPr b="1" i="0" sz="682" u="none" cap="none" strike="noStrike">
              <a:solidFill>
                <a:srgbClr val="FFFFFF"/>
              </a:solidFill>
              <a:latin typeface="Open Sans"/>
              <a:ea typeface="Open Sans"/>
              <a:cs typeface="Open Sans"/>
              <a:sym typeface="Open Sans"/>
            </a:endParaRPr>
          </a:p>
        </p:txBody>
      </p:sp>
      <p:sp>
        <p:nvSpPr>
          <p:cNvPr id="151" name="Google Shape;151;p9"/>
          <p:cNvSpPr txBox="1"/>
          <p:nvPr/>
        </p:nvSpPr>
        <p:spPr>
          <a:xfrm>
            <a:off x="8853239" y="1429756"/>
            <a:ext cx="2397273" cy="294750"/>
          </a:xfrm>
          <a:prstGeom prst="rect">
            <a:avLst/>
          </a:prstGeom>
          <a:noFill/>
          <a:ln>
            <a:noFill/>
          </a:ln>
        </p:spPr>
        <p:txBody>
          <a:bodyPr anchorCtr="0" anchor="t" bIns="62325" lIns="0" spcFirstLastPara="1" rIns="124675" wrap="square" tIns="0">
            <a:noAutofit/>
          </a:bodyPr>
          <a:lstStyle/>
          <a:p>
            <a:pPr indent="0" lvl="0" marL="0" marR="0" rtl="0" algn="ctr">
              <a:lnSpc>
                <a:spcPct val="115000"/>
              </a:lnSpc>
              <a:spcBef>
                <a:spcPts val="0"/>
              </a:spcBef>
              <a:spcAft>
                <a:spcPts val="0"/>
              </a:spcAft>
              <a:buClr>
                <a:srgbClr val="000000"/>
              </a:buClr>
              <a:buSzPts val="477"/>
              <a:buFont typeface="Arial"/>
              <a:buNone/>
            </a:pPr>
            <a:r>
              <a:rPr b="0" i="1" lang="en-US" sz="477" u="none" cap="none" strike="noStrike">
                <a:solidFill>
                  <a:srgbClr val="666666"/>
                </a:solidFill>
                <a:latin typeface="Open Sans"/>
                <a:ea typeface="Open Sans"/>
                <a:cs typeface="Open Sans"/>
                <a:sym typeface="Open Sans"/>
              </a:rPr>
              <a:t>Tracking profiling mode to focus </a:t>
            </a:r>
            <a:br>
              <a:rPr b="0" i="1" lang="en-US" sz="477" u="none" cap="none" strike="noStrike">
                <a:solidFill>
                  <a:srgbClr val="666666"/>
                </a:solidFill>
                <a:latin typeface="Open Sans"/>
                <a:ea typeface="Open Sans"/>
                <a:cs typeface="Open Sans"/>
                <a:sym typeface="Open Sans"/>
              </a:rPr>
            </a:br>
            <a:r>
              <a:rPr b="0" i="1" lang="en-US" sz="477" u="none" cap="none" strike="noStrike">
                <a:solidFill>
                  <a:srgbClr val="666666"/>
                </a:solidFill>
                <a:latin typeface="Open Sans"/>
                <a:ea typeface="Open Sans"/>
                <a:cs typeface="Open Sans"/>
                <a:sym typeface="Open Sans"/>
              </a:rPr>
              <a:t>a profile on a feature of interest</a:t>
            </a:r>
            <a:endParaRPr b="0" i="1" sz="477" u="none" cap="none" strike="noStrike">
              <a:solidFill>
                <a:srgbClr val="666666"/>
              </a:solidFill>
              <a:latin typeface="Open Sans"/>
              <a:ea typeface="Open Sans"/>
              <a:cs typeface="Open Sans"/>
              <a:sym typeface="Open Sans"/>
            </a:endParaRPr>
          </a:p>
        </p:txBody>
      </p:sp>
      <p:sp>
        <p:nvSpPr>
          <p:cNvPr id="152" name="Google Shape;152;p9"/>
          <p:cNvSpPr/>
          <p:nvPr/>
        </p:nvSpPr>
        <p:spPr>
          <a:xfrm>
            <a:off x="6414835" y="3915537"/>
            <a:ext cx="2397273" cy="168955"/>
          </a:xfrm>
          <a:prstGeom prst="rect">
            <a:avLst/>
          </a:prstGeom>
          <a:solidFill>
            <a:srgbClr val="434343"/>
          </a:solidFill>
          <a:ln>
            <a:noFill/>
          </a:ln>
        </p:spPr>
        <p:txBody>
          <a:bodyPr anchorCtr="0" anchor="ctr" bIns="62325" lIns="62325" spcFirstLastPara="1" rIns="62325" wrap="square" tIns="62325">
            <a:noAutofit/>
          </a:bodyPr>
          <a:lstStyle/>
          <a:p>
            <a:pPr indent="0" lvl="0" marL="0" marR="0" rtl="0" algn="l">
              <a:lnSpc>
                <a:spcPct val="100000"/>
              </a:lnSpc>
              <a:spcBef>
                <a:spcPts val="0"/>
              </a:spcBef>
              <a:spcAft>
                <a:spcPts val="0"/>
              </a:spcAft>
              <a:buClr>
                <a:srgbClr val="000000"/>
              </a:buClr>
              <a:buSzPts val="1227"/>
              <a:buFont typeface="Arial"/>
              <a:buNone/>
            </a:pPr>
            <a:r>
              <a:t/>
            </a:r>
            <a:endParaRPr b="0" i="0" sz="1227" u="none" cap="none" strike="noStrike">
              <a:solidFill>
                <a:schemeClr val="dk1"/>
              </a:solidFill>
              <a:latin typeface="Calibri"/>
              <a:ea typeface="Calibri"/>
              <a:cs typeface="Calibri"/>
              <a:sym typeface="Calibri"/>
            </a:endParaRPr>
          </a:p>
        </p:txBody>
      </p:sp>
      <p:sp>
        <p:nvSpPr>
          <p:cNvPr id="153" name="Google Shape;153;p9"/>
          <p:cNvSpPr txBox="1"/>
          <p:nvPr/>
        </p:nvSpPr>
        <p:spPr>
          <a:xfrm>
            <a:off x="6415091" y="3922236"/>
            <a:ext cx="2397273" cy="102273"/>
          </a:xfrm>
          <a:prstGeom prst="rect">
            <a:avLst/>
          </a:prstGeom>
          <a:noFill/>
          <a:ln>
            <a:noFill/>
          </a:ln>
        </p:spPr>
        <p:txBody>
          <a:bodyPr anchorCtr="0" anchor="t" bIns="62325" lIns="62325" spcFirstLastPara="1" rIns="62325" wrap="square" tIns="31150">
            <a:noAutofit/>
          </a:bodyPr>
          <a:lstStyle/>
          <a:p>
            <a:pPr indent="0" lvl="0" marL="0" marR="0" rtl="0" algn="ctr">
              <a:lnSpc>
                <a:spcPct val="115000"/>
              </a:lnSpc>
              <a:spcBef>
                <a:spcPts val="0"/>
              </a:spcBef>
              <a:spcAft>
                <a:spcPts val="205"/>
              </a:spcAft>
              <a:buClr>
                <a:srgbClr val="000000"/>
              </a:buClr>
              <a:buSzPts val="682"/>
              <a:buFont typeface="Arial"/>
              <a:buNone/>
            </a:pPr>
            <a:r>
              <a:rPr b="1" i="0" lang="en-US" sz="682" u="none" cap="none" strike="noStrike">
                <a:solidFill>
                  <a:srgbClr val="FFFFFF"/>
                </a:solidFill>
                <a:latin typeface="Open Sans"/>
                <a:ea typeface="Open Sans"/>
                <a:cs typeface="Open Sans"/>
                <a:sym typeface="Open Sans"/>
              </a:rPr>
              <a:t>MOORED PROFILE MODE</a:t>
            </a:r>
            <a:endParaRPr b="1" i="0" sz="682" u="none" cap="none" strike="noStrike">
              <a:solidFill>
                <a:srgbClr val="FFFFFF"/>
              </a:solidFill>
              <a:latin typeface="Open Sans"/>
              <a:ea typeface="Open Sans"/>
              <a:cs typeface="Open Sans"/>
              <a:sym typeface="Open Sans"/>
            </a:endParaRPr>
          </a:p>
        </p:txBody>
      </p:sp>
      <p:sp>
        <p:nvSpPr>
          <p:cNvPr id="154" name="Google Shape;154;p9"/>
          <p:cNvSpPr/>
          <p:nvPr/>
        </p:nvSpPr>
        <p:spPr>
          <a:xfrm>
            <a:off x="8853239" y="3915537"/>
            <a:ext cx="2397273" cy="2657455"/>
          </a:xfrm>
          <a:prstGeom prst="rect">
            <a:avLst/>
          </a:prstGeom>
          <a:solidFill>
            <a:srgbClr val="FFFFFF"/>
          </a:solidFill>
          <a:ln cap="flat" cmpd="sng" w="9525">
            <a:solidFill>
              <a:srgbClr val="666666"/>
            </a:solidFill>
            <a:prstDash val="solid"/>
            <a:round/>
            <a:headEnd len="sm" w="sm" type="none"/>
            <a:tailEnd len="sm" w="sm" type="none"/>
          </a:ln>
        </p:spPr>
        <p:txBody>
          <a:bodyPr anchorCtr="0" anchor="ctr" bIns="62325" lIns="62325" spcFirstLastPara="1" rIns="62325" wrap="square" tIns="62325">
            <a:noAutofit/>
          </a:bodyPr>
          <a:lstStyle/>
          <a:p>
            <a:pPr indent="0" lvl="0" marL="0" marR="0" rtl="0" algn="l">
              <a:lnSpc>
                <a:spcPct val="100000"/>
              </a:lnSpc>
              <a:spcBef>
                <a:spcPts val="0"/>
              </a:spcBef>
              <a:spcAft>
                <a:spcPts val="0"/>
              </a:spcAft>
              <a:buClr>
                <a:srgbClr val="000000"/>
              </a:buClr>
              <a:buSzPts val="1227"/>
              <a:buFont typeface="Arial"/>
              <a:buNone/>
            </a:pPr>
            <a:r>
              <a:t/>
            </a:r>
            <a:endParaRPr b="0" i="0" sz="1227" u="none" cap="none" strike="noStrike">
              <a:solidFill>
                <a:schemeClr val="dk1"/>
              </a:solidFill>
              <a:latin typeface="Calibri"/>
              <a:ea typeface="Calibri"/>
              <a:cs typeface="Calibri"/>
              <a:sym typeface="Calibri"/>
            </a:endParaRPr>
          </a:p>
        </p:txBody>
      </p:sp>
      <p:sp>
        <p:nvSpPr>
          <p:cNvPr id="155" name="Google Shape;155;p9"/>
          <p:cNvSpPr/>
          <p:nvPr/>
        </p:nvSpPr>
        <p:spPr>
          <a:xfrm>
            <a:off x="8852983" y="3915537"/>
            <a:ext cx="2397273" cy="168955"/>
          </a:xfrm>
          <a:prstGeom prst="rect">
            <a:avLst/>
          </a:prstGeom>
          <a:solidFill>
            <a:srgbClr val="434343"/>
          </a:solidFill>
          <a:ln>
            <a:noFill/>
          </a:ln>
        </p:spPr>
        <p:txBody>
          <a:bodyPr anchorCtr="0" anchor="ctr" bIns="62325" lIns="62325" spcFirstLastPara="1" rIns="62325" wrap="square" tIns="62325">
            <a:noAutofit/>
          </a:bodyPr>
          <a:lstStyle/>
          <a:p>
            <a:pPr indent="0" lvl="0" marL="0" marR="0" rtl="0" algn="l">
              <a:lnSpc>
                <a:spcPct val="100000"/>
              </a:lnSpc>
              <a:spcBef>
                <a:spcPts val="0"/>
              </a:spcBef>
              <a:spcAft>
                <a:spcPts val="0"/>
              </a:spcAft>
              <a:buClr>
                <a:srgbClr val="000000"/>
              </a:buClr>
              <a:buSzPts val="1227"/>
              <a:buFont typeface="Arial"/>
              <a:buNone/>
            </a:pPr>
            <a:r>
              <a:t/>
            </a:r>
            <a:endParaRPr b="0" i="0" sz="1227" u="none" cap="none" strike="noStrike">
              <a:solidFill>
                <a:schemeClr val="dk1"/>
              </a:solidFill>
              <a:latin typeface="Calibri"/>
              <a:ea typeface="Calibri"/>
              <a:cs typeface="Calibri"/>
              <a:sym typeface="Calibri"/>
            </a:endParaRPr>
          </a:p>
        </p:txBody>
      </p:sp>
      <p:sp>
        <p:nvSpPr>
          <p:cNvPr id="156" name="Google Shape;156;p9"/>
          <p:cNvSpPr txBox="1"/>
          <p:nvPr/>
        </p:nvSpPr>
        <p:spPr>
          <a:xfrm>
            <a:off x="8853239" y="3922236"/>
            <a:ext cx="2397273" cy="102273"/>
          </a:xfrm>
          <a:prstGeom prst="rect">
            <a:avLst/>
          </a:prstGeom>
          <a:noFill/>
          <a:ln>
            <a:noFill/>
          </a:ln>
        </p:spPr>
        <p:txBody>
          <a:bodyPr anchorCtr="0" anchor="t" bIns="62325" lIns="62325" spcFirstLastPara="1" rIns="62325" wrap="square" tIns="31150">
            <a:noAutofit/>
          </a:bodyPr>
          <a:lstStyle/>
          <a:p>
            <a:pPr indent="0" lvl="0" marL="0" marR="0" rtl="0" algn="ctr">
              <a:lnSpc>
                <a:spcPct val="115000"/>
              </a:lnSpc>
              <a:spcBef>
                <a:spcPts val="0"/>
              </a:spcBef>
              <a:spcAft>
                <a:spcPts val="205"/>
              </a:spcAft>
              <a:buClr>
                <a:srgbClr val="000000"/>
              </a:buClr>
              <a:buSzPts val="682"/>
              <a:buFont typeface="Arial"/>
              <a:buNone/>
            </a:pPr>
            <a:r>
              <a:rPr b="1" i="0" lang="en-US" sz="682" u="none" cap="none" strike="noStrike">
                <a:solidFill>
                  <a:srgbClr val="FFFFFF"/>
                </a:solidFill>
                <a:latin typeface="Open Sans"/>
                <a:ea typeface="Open Sans"/>
                <a:cs typeface="Open Sans"/>
                <a:sym typeface="Open Sans"/>
              </a:rPr>
              <a:t>POPUP PROFILE MODE</a:t>
            </a:r>
            <a:endParaRPr b="1" i="0" sz="682" u="none" cap="none" strike="noStrike">
              <a:solidFill>
                <a:srgbClr val="FFFFFF"/>
              </a:solidFill>
              <a:latin typeface="Open Sans"/>
              <a:ea typeface="Open Sans"/>
              <a:cs typeface="Open Sans"/>
              <a:sym typeface="Open Sans"/>
            </a:endParaRPr>
          </a:p>
        </p:txBody>
      </p:sp>
      <p:sp>
        <p:nvSpPr>
          <p:cNvPr id="157" name="Google Shape;157;p9"/>
          <p:cNvSpPr txBox="1"/>
          <p:nvPr/>
        </p:nvSpPr>
        <p:spPr>
          <a:xfrm>
            <a:off x="8853239" y="4139208"/>
            <a:ext cx="2397273" cy="294750"/>
          </a:xfrm>
          <a:prstGeom prst="rect">
            <a:avLst/>
          </a:prstGeom>
          <a:noFill/>
          <a:ln>
            <a:noFill/>
          </a:ln>
        </p:spPr>
        <p:txBody>
          <a:bodyPr anchorCtr="0" anchor="t" bIns="62325" lIns="0" spcFirstLastPara="1" rIns="124675" wrap="square" tIns="0">
            <a:noAutofit/>
          </a:bodyPr>
          <a:lstStyle/>
          <a:p>
            <a:pPr indent="0" lvl="0" marL="0" marR="0" rtl="0" algn="ctr">
              <a:lnSpc>
                <a:spcPct val="115000"/>
              </a:lnSpc>
              <a:spcBef>
                <a:spcPts val="0"/>
              </a:spcBef>
              <a:spcAft>
                <a:spcPts val="0"/>
              </a:spcAft>
              <a:buClr>
                <a:srgbClr val="000000"/>
              </a:buClr>
              <a:buSzPts val="477"/>
              <a:buFont typeface="Arial"/>
              <a:buNone/>
            </a:pPr>
            <a:r>
              <a:rPr b="0" i="1" lang="en-US" sz="477" u="none" cap="none" strike="noStrike">
                <a:solidFill>
                  <a:srgbClr val="666666"/>
                </a:solidFill>
                <a:latin typeface="Open Sans"/>
                <a:ea typeface="Open Sans"/>
                <a:cs typeface="Open Sans"/>
                <a:sym typeface="Open Sans"/>
              </a:rPr>
              <a:t>Profiling mode geared toward polar monitoring</a:t>
            </a:r>
            <a:endParaRPr b="0" i="1" sz="477" u="none" cap="none" strike="noStrike">
              <a:solidFill>
                <a:srgbClr val="666666"/>
              </a:solidFill>
              <a:latin typeface="Open Sans"/>
              <a:ea typeface="Open Sans"/>
              <a:cs typeface="Open Sans"/>
              <a:sym typeface="Open Sans"/>
            </a:endParaRPr>
          </a:p>
        </p:txBody>
      </p:sp>
      <p:sp>
        <p:nvSpPr>
          <p:cNvPr id="158" name="Google Shape;158;p9"/>
          <p:cNvSpPr txBox="1"/>
          <p:nvPr/>
        </p:nvSpPr>
        <p:spPr>
          <a:xfrm>
            <a:off x="6415091" y="4139208"/>
            <a:ext cx="2397273" cy="294750"/>
          </a:xfrm>
          <a:prstGeom prst="rect">
            <a:avLst/>
          </a:prstGeom>
          <a:noFill/>
          <a:ln>
            <a:noFill/>
          </a:ln>
        </p:spPr>
        <p:txBody>
          <a:bodyPr anchorCtr="0" anchor="t" bIns="62325" lIns="0" spcFirstLastPara="1" rIns="124675" wrap="square" tIns="0">
            <a:noAutofit/>
          </a:bodyPr>
          <a:lstStyle/>
          <a:p>
            <a:pPr indent="0" lvl="0" marL="0" marR="0" rtl="0" algn="ctr">
              <a:lnSpc>
                <a:spcPct val="115000"/>
              </a:lnSpc>
              <a:spcBef>
                <a:spcPts val="0"/>
              </a:spcBef>
              <a:spcAft>
                <a:spcPts val="0"/>
              </a:spcAft>
              <a:buClr>
                <a:srgbClr val="000000"/>
              </a:buClr>
              <a:buSzPts val="477"/>
              <a:buFont typeface="Arial"/>
              <a:buNone/>
            </a:pPr>
            <a:r>
              <a:rPr b="0" i="1" lang="en-US" sz="477" u="none" cap="none" strike="noStrike">
                <a:solidFill>
                  <a:srgbClr val="666666"/>
                </a:solidFill>
                <a:latin typeface="Open Sans"/>
                <a:ea typeface="Open Sans"/>
                <a:cs typeface="Open Sans"/>
                <a:sym typeface="Open Sans"/>
              </a:rPr>
              <a:t>Profiling mode geared toward reef monitoring</a:t>
            </a:r>
            <a:endParaRPr b="0" i="1" sz="477" u="none" cap="none" strike="noStrike">
              <a:solidFill>
                <a:srgbClr val="666666"/>
              </a:solidFill>
              <a:latin typeface="Open Sans"/>
              <a:ea typeface="Open Sans"/>
              <a:cs typeface="Open Sans"/>
              <a:sym typeface="Open Sans"/>
            </a:endParaRPr>
          </a:p>
        </p:txBody>
      </p:sp>
      <p:pic>
        <p:nvPicPr>
          <p:cNvPr id="159" name="Google Shape;159;p9"/>
          <p:cNvPicPr preferRelativeResize="0"/>
          <p:nvPr/>
        </p:nvPicPr>
        <p:blipFill rotWithShape="1">
          <a:blip r:embed="rId4">
            <a:alphaModFix/>
          </a:blip>
          <a:srcRect b="13208" l="50548" r="0" t="6784"/>
          <a:stretch/>
        </p:blipFill>
        <p:spPr>
          <a:xfrm>
            <a:off x="8937887" y="4333015"/>
            <a:ext cx="2227962" cy="2216761"/>
          </a:xfrm>
          <a:prstGeom prst="rect">
            <a:avLst/>
          </a:prstGeom>
          <a:noFill/>
          <a:ln>
            <a:noFill/>
          </a:ln>
        </p:spPr>
      </p:pic>
      <p:graphicFrame>
        <p:nvGraphicFramePr>
          <p:cNvPr id="160" name="Google Shape;160;p9"/>
          <p:cNvGraphicFramePr/>
          <p:nvPr/>
        </p:nvGraphicFramePr>
        <p:xfrm>
          <a:off x="337933" y="1375041"/>
          <a:ext cx="3000000" cy="3000000"/>
        </p:xfrm>
        <a:graphic>
          <a:graphicData uri="http://schemas.openxmlformats.org/drawingml/2006/table">
            <a:tbl>
              <a:tblPr>
                <a:noFill/>
                <a:tableStyleId>{DFB7376E-2B67-4CFF-8DC8-F2758C73472E}</a:tableStyleId>
              </a:tblPr>
              <a:tblGrid>
                <a:gridCol w="1673350"/>
                <a:gridCol w="4094475"/>
              </a:tblGrid>
              <a:tr h="379325">
                <a:tc>
                  <a:txBody>
                    <a:bodyPr/>
                    <a:lstStyle/>
                    <a:p>
                      <a:pPr indent="0" lvl="0" marL="0" marR="0" rtl="0" algn="l">
                        <a:lnSpc>
                          <a:spcPct val="100000"/>
                        </a:lnSpc>
                        <a:spcBef>
                          <a:spcPts val="0"/>
                        </a:spcBef>
                        <a:spcAft>
                          <a:spcPts val="0"/>
                        </a:spcAft>
                        <a:buClr>
                          <a:srgbClr val="000000"/>
                        </a:buClr>
                        <a:buSzPts val="1100"/>
                        <a:buFont typeface="Arial"/>
                        <a:buNone/>
                      </a:pPr>
                      <a:r>
                        <a:rPr b="1" lang="en-US" sz="1200" u="none" cap="none" strike="noStrike">
                          <a:solidFill>
                            <a:srgbClr val="003087"/>
                          </a:solidFill>
                          <a:latin typeface="Open Sans"/>
                          <a:ea typeface="Open Sans"/>
                          <a:cs typeface="Open Sans"/>
                          <a:sym typeface="Open Sans"/>
                        </a:rPr>
                        <a:t>Cost</a:t>
                      </a:r>
                      <a:endParaRPr sz="1200" u="none" cap="none" strike="noStrike">
                        <a:solidFill>
                          <a:srgbClr val="003087"/>
                        </a:solidFill>
                        <a:latin typeface="Open Sans"/>
                        <a:ea typeface="Open Sans"/>
                        <a:cs typeface="Open Sans"/>
                        <a:sym typeface="Open Sans"/>
                      </a:endParaRPr>
                    </a:p>
                  </a:txBody>
                  <a:tcPr marT="24925" marB="24925" marR="24925" marL="2492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200" u="none" cap="none" strike="noStrike">
                          <a:solidFill>
                            <a:srgbClr val="003087"/>
                          </a:solidFill>
                          <a:latin typeface="Open Sans"/>
                          <a:ea typeface="Open Sans"/>
                          <a:cs typeface="Open Sans"/>
                          <a:sym typeface="Open Sans"/>
                        </a:rPr>
                        <a:t>~$5,000 (in QTYs of 10)</a:t>
                      </a:r>
                      <a:endParaRPr sz="1200" u="none" cap="none" strike="noStrike">
                        <a:solidFill>
                          <a:srgbClr val="003087"/>
                        </a:solidFill>
                        <a:latin typeface="Open Sans"/>
                        <a:ea typeface="Open Sans"/>
                        <a:cs typeface="Open Sans"/>
                        <a:sym typeface="Open Sans"/>
                      </a:endParaRPr>
                    </a:p>
                  </a:txBody>
                  <a:tcPr marT="24925" marB="24925" marR="24925" marL="24925" anchor="ctr"/>
                </a:tc>
              </a:tr>
              <a:tr h="609000">
                <a:tc>
                  <a:txBody>
                    <a:bodyPr/>
                    <a:lstStyle/>
                    <a:p>
                      <a:pPr indent="0" lvl="0" marL="0" marR="0" rtl="0" algn="l">
                        <a:lnSpc>
                          <a:spcPct val="100000"/>
                        </a:lnSpc>
                        <a:spcBef>
                          <a:spcPts val="0"/>
                        </a:spcBef>
                        <a:spcAft>
                          <a:spcPts val="0"/>
                        </a:spcAft>
                        <a:buClr>
                          <a:srgbClr val="000000"/>
                        </a:buClr>
                        <a:buSzPts val="1100"/>
                        <a:buFont typeface="Arial"/>
                        <a:buNone/>
                      </a:pPr>
                      <a:r>
                        <a:rPr b="1" lang="en-US" sz="1200" u="none" cap="none" strike="noStrike">
                          <a:solidFill>
                            <a:srgbClr val="003087"/>
                          </a:solidFill>
                          <a:latin typeface="Open Sans"/>
                          <a:ea typeface="Open Sans"/>
                          <a:cs typeface="Open Sans"/>
                          <a:sym typeface="Open Sans"/>
                        </a:rPr>
                        <a:t>Maximum Depth</a:t>
                      </a:r>
                      <a:endParaRPr sz="1200" u="none" cap="none" strike="noStrike">
                        <a:solidFill>
                          <a:srgbClr val="003087"/>
                        </a:solidFill>
                        <a:latin typeface="Open Sans"/>
                        <a:ea typeface="Open Sans"/>
                        <a:cs typeface="Open Sans"/>
                        <a:sym typeface="Open Sans"/>
                      </a:endParaRPr>
                    </a:p>
                  </a:txBody>
                  <a:tcPr marT="24925" marB="24925" marR="24925" marL="2492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200" u="none" cap="none" strike="noStrike">
                          <a:solidFill>
                            <a:srgbClr val="003087"/>
                          </a:solidFill>
                          <a:latin typeface="Open Sans"/>
                          <a:ea typeface="Open Sans"/>
                          <a:cs typeface="Open Sans"/>
                          <a:sym typeface="Open Sans"/>
                        </a:rPr>
                        <a:t>220m</a:t>
                      </a:r>
                      <a:endParaRPr sz="1200" u="none" cap="none" strike="noStrike">
                        <a:solidFill>
                          <a:srgbClr val="003087"/>
                        </a:solidFill>
                        <a:latin typeface="Open Sans"/>
                        <a:ea typeface="Open Sans"/>
                        <a:cs typeface="Open Sans"/>
                        <a:sym typeface="Open Sans"/>
                      </a:endParaRPr>
                    </a:p>
                  </a:txBody>
                  <a:tcPr marT="24925" marB="24925" marR="24925" marL="24925" anchor="ctr"/>
                </a:tc>
              </a:tr>
              <a:tr h="379325">
                <a:tc>
                  <a:txBody>
                    <a:bodyPr/>
                    <a:lstStyle/>
                    <a:p>
                      <a:pPr indent="0" lvl="0" marL="0" marR="0" rtl="0" algn="l">
                        <a:lnSpc>
                          <a:spcPct val="100000"/>
                        </a:lnSpc>
                        <a:spcBef>
                          <a:spcPts val="0"/>
                        </a:spcBef>
                        <a:spcAft>
                          <a:spcPts val="0"/>
                        </a:spcAft>
                        <a:buClr>
                          <a:srgbClr val="000000"/>
                        </a:buClr>
                        <a:buSzPts val="1100"/>
                        <a:buFont typeface="Arial"/>
                        <a:buNone/>
                      </a:pPr>
                      <a:r>
                        <a:rPr b="1" lang="en-US" sz="1200" u="none" cap="none" strike="noStrike">
                          <a:solidFill>
                            <a:srgbClr val="003087"/>
                          </a:solidFill>
                          <a:latin typeface="Open Sans"/>
                          <a:ea typeface="Open Sans"/>
                          <a:cs typeface="Open Sans"/>
                          <a:sym typeface="Open Sans"/>
                        </a:rPr>
                        <a:t>Endurance</a:t>
                      </a:r>
                      <a:endParaRPr sz="1200" u="none" cap="none" strike="noStrike">
                        <a:solidFill>
                          <a:srgbClr val="003087"/>
                        </a:solidFill>
                        <a:latin typeface="Open Sans"/>
                        <a:ea typeface="Open Sans"/>
                        <a:cs typeface="Open Sans"/>
                        <a:sym typeface="Open Sans"/>
                      </a:endParaRPr>
                    </a:p>
                  </a:txBody>
                  <a:tcPr marT="24925" marB="24925" marR="24925" marL="2492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200" u="none" cap="none" strike="noStrike">
                          <a:solidFill>
                            <a:srgbClr val="003087"/>
                          </a:solidFill>
                          <a:latin typeface="Open Sans"/>
                          <a:ea typeface="Open Sans"/>
                          <a:cs typeface="Open Sans"/>
                          <a:sym typeface="Open Sans"/>
                        </a:rPr>
                        <a:t>100 profiles (nominal)</a:t>
                      </a:r>
                      <a:endParaRPr sz="1200" u="none" cap="none" strike="noStrike">
                        <a:solidFill>
                          <a:srgbClr val="003087"/>
                        </a:solidFill>
                        <a:latin typeface="Open Sans"/>
                        <a:ea typeface="Open Sans"/>
                        <a:cs typeface="Open Sans"/>
                        <a:sym typeface="Open Sans"/>
                      </a:endParaRPr>
                    </a:p>
                  </a:txBody>
                  <a:tcPr marT="24925" marB="24925" marR="24925" marL="24925" anchor="ctr"/>
                </a:tc>
              </a:tr>
              <a:tr h="379325">
                <a:tc>
                  <a:txBody>
                    <a:bodyPr/>
                    <a:lstStyle/>
                    <a:p>
                      <a:pPr indent="0" lvl="0" marL="0" marR="0" rtl="0" algn="l">
                        <a:lnSpc>
                          <a:spcPct val="100000"/>
                        </a:lnSpc>
                        <a:spcBef>
                          <a:spcPts val="0"/>
                        </a:spcBef>
                        <a:spcAft>
                          <a:spcPts val="0"/>
                        </a:spcAft>
                        <a:buClr>
                          <a:srgbClr val="000000"/>
                        </a:buClr>
                        <a:buSzPts val="1100"/>
                        <a:buFont typeface="Arial"/>
                        <a:buNone/>
                      </a:pPr>
                      <a:r>
                        <a:rPr b="1" lang="en-US" sz="1200" u="none" cap="none" strike="noStrike">
                          <a:solidFill>
                            <a:srgbClr val="003087"/>
                          </a:solidFill>
                          <a:latin typeface="Open Sans"/>
                          <a:ea typeface="Open Sans"/>
                          <a:cs typeface="Open Sans"/>
                          <a:sym typeface="Open Sans"/>
                        </a:rPr>
                        <a:t>Dimensions</a:t>
                      </a:r>
                      <a:endParaRPr sz="1200" u="none" cap="none" strike="noStrike">
                        <a:solidFill>
                          <a:srgbClr val="003087"/>
                        </a:solidFill>
                        <a:latin typeface="Open Sans"/>
                        <a:ea typeface="Open Sans"/>
                        <a:cs typeface="Open Sans"/>
                        <a:sym typeface="Open Sans"/>
                      </a:endParaRPr>
                    </a:p>
                  </a:txBody>
                  <a:tcPr marT="24925" marB="24925" marR="24925" marL="24925" anchor="ctr"/>
                </a:tc>
                <a:tc>
                  <a:txBody>
                    <a:bodyPr/>
                    <a:lstStyle/>
                    <a:p>
                      <a:pPr indent="0" lvl="0" marL="0" marR="0" rtl="0" algn="l">
                        <a:lnSpc>
                          <a:spcPct val="100000"/>
                        </a:lnSpc>
                        <a:spcBef>
                          <a:spcPts val="0"/>
                        </a:spcBef>
                        <a:spcAft>
                          <a:spcPts val="0"/>
                        </a:spcAft>
                        <a:buClr>
                          <a:srgbClr val="003087"/>
                        </a:buClr>
                        <a:buSzPts val="1200"/>
                        <a:buFont typeface="Open Sans"/>
                        <a:buNone/>
                      </a:pPr>
                      <a:r>
                        <a:rPr lang="en-US" sz="1200" u="none" cap="none" strike="noStrike">
                          <a:solidFill>
                            <a:srgbClr val="003087"/>
                          </a:solidFill>
                          <a:latin typeface="Open Sans"/>
                          <a:ea typeface="Open Sans"/>
                          <a:cs typeface="Open Sans"/>
                          <a:sym typeface="Open Sans"/>
                        </a:rPr>
                        <a:t>91.4 cm length x 12. 4 cm diameter</a:t>
                      </a:r>
                      <a:endParaRPr sz="1200" u="none" cap="none" strike="noStrike">
                        <a:solidFill>
                          <a:srgbClr val="003087"/>
                        </a:solidFill>
                        <a:latin typeface="Open Sans"/>
                        <a:ea typeface="Open Sans"/>
                        <a:cs typeface="Open Sans"/>
                        <a:sym typeface="Open Sans"/>
                      </a:endParaRPr>
                    </a:p>
                  </a:txBody>
                  <a:tcPr marT="24925" marB="24925" marR="24925" marL="24925" anchor="ctr"/>
                </a:tc>
              </a:tr>
              <a:tr h="379325">
                <a:tc>
                  <a:txBody>
                    <a:bodyPr/>
                    <a:lstStyle/>
                    <a:p>
                      <a:pPr indent="0" lvl="0" marL="0" marR="0" rtl="0" algn="l">
                        <a:lnSpc>
                          <a:spcPct val="100000"/>
                        </a:lnSpc>
                        <a:spcBef>
                          <a:spcPts val="0"/>
                        </a:spcBef>
                        <a:spcAft>
                          <a:spcPts val="0"/>
                        </a:spcAft>
                        <a:buClr>
                          <a:srgbClr val="000000"/>
                        </a:buClr>
                        <a:buSzPts val="1100"/>
                        <a:buFont typeface="Arial"/>
                        <a:buNone/>
                      </a:pPr>
                      <a:r>
                        <a:rPr b="1" lang="en-US" sz="1200" u="none" cap="none" strike="noStrike">
                          <a:solidFill>
                            <a:srgbClr val="003087"/>
                          </a:solidFill>
                          <a:latin typeface="Open Sans"/>
                          <a:ea typeface="Open Sans"/>
                          <a:cs typeface="Open Sans"/>
                          <a:sym typeface="Open Sans"/>
                        </a:rPr>
                        <a:t>Weight</a:t>
                      </a:r>
                      <a:endParaRPr sz="1200" u="none" cap="none" strike="noStrike">
                        <a:solidFill>
                          <a:srgbClr val="003087"/>
                        </a:solidFill>
                        <a:latin typeface="Open Sans"/>
                        <a:ea typeface="Open Sans"/>
                        <a:cs typeface="Open Sans"/>
                        <a:sym typeface="Open Sans"/>
                      </a:endParaRPr>
                    </a:p>
                  </a:txBody>
                  <a:tcPr marT="24925" marB="24925" marR="24925" marL="2492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200" u="none" cap="none" strike="noStrike">
                          <a:solidFill>
                            <a:srgbClr val="003087"/>
                          </a:solidFill>
                          <a:latin typeface="Open Sans"/>
                          <a:ea typeface="Open Sans"/>
                          <a:cs typeface="Open Sans"/>
                          <a:sym typeface="Open Sans"/>
                        </a:rPr>
                        <a:t>13.6 kg</a:t>
                      </a:r>
                      <a:endParaRPr sz="1200" u="none" cap="none" strike="noStrike">
                        <a:solidFill>
                          <a:srgbClr val="003087"/>
                        </a:solidFill>
                        <a:latin typeface="Open Sans"/>
                        <a:ea typeface="Open Sans"/>
                        <a:cs typeface="Open Sans"/>
                        <a:sym typeface="Open Sans"/>
                      </a:endParaRPr>
                    </a:p>
                  </a:txBody>
                  <a:tcPr marT="24925" marB="24925" marR="24925" marL="24925" anchor="ctr"/>
                </a:tc>
              </a:tr>
              <a:tr h="609000">
                <a:tc>
                  <a:txBody>
                    <a:bodyPr/>
                    <a:lstStyle/>
                    <a:p>
                      <a:pPr indent="0" lvl="0" marL="0" marR="0" rtl="0" algn="l">
                        <a:lnSpc>
                          <a:spcPct val="100000"/>
                        </a:lnSpc>
                        <a:spcBef>
                          <a:spcPts val="0"/>
                        </a:spcBef>
                        <a:spcAft>
                          <a:spcPts val="0"/>
                        </a:spcAft>
                        <a:buClr>
                          <a:srgbClr val="000000"/>
                        </a:buClr>
                        <a:buSzPts val="1100"/>
                        <a:buFont typeface="Arial"/>
                        <a:buNone/>
                      </a:pPr>
                      <a:r>
                        <a:rPr b="1" lang="en-US" sz="1200" u="none" cap="none" strike="noStrike">
                          <a:solidFill>
                            <a:srgbClr val="003087"/>
                          </a:solidFill>
                          <a:latin typeface="Open Sans"/>
                          <a:ea typeface="Open Sans"/>
                          <a:cs typeface="Open Sans"/>
                          <a:sym typeface="Open Sans"/>
                        </a:rPr>
                        <a:t>Telemetry</a:t>
                      </a:r>
                      <a:endParaRPr sz="1200" u="none" cap="none" strike="noStrike">
                        <a:solidFill>
                          <a:srgbClr val="003087"/>
                        </a:solidFill>
                        <a:latin typeface="Open Sans"/>
                        <a:ea typeface="Open Sans"/>
                        <a:cs typeface="Open Sans"/>
                        <a:sym typeface="Open Sans"/>
                      </a:endParaRPr>
                    </a:p>
                  </a:txBody>
                  <a:tcPr marT="24925" marB="24925" marR="24925" marL="2492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200" u="none" cap="none" strike="noStrike">
                          <a:solidFill>
                            <a:srgbClr val="003087"/>
                          </a:solidFill>
                          <a:latin typeface="Open Sans"/>
                          <a:ea typeface="Open Sans"/>
                          <a:cs typeface="Open Sans"/>
                          <a:sym typeface="Open Sans"/>
                        </a:rPr>
                        <a:t>Iridium Short Burst Data (SBD) w/ more options available in future</a:t>
                      </a:r>
                      <a:endParaRPr sz="1200" u="none" cap="none" strike="noStrike">
                        <a:solidFill>
                          <a:srgbClr val="003087"/>
                        </a:solidFill>
                        <a:latin typeface="Open Sans"/>
                        <a:ea typeface="Open Sans"/>
                        <a:cs typeface="Open Sans"/>
                        <a:sym typeface="Open Sans"/>
                      </a:endParaRPr>
                    </a:p>
                  </a:txBody>
                  <a:tcPr marT="24925" marB="24925" marR="24925" marL="24925" anchor="ctr"/>
                </a:tc>
              </a:tr>
              <a:tr h="390000">
                <a:tc>
                  <a:txBody>
                    <a:bodyPr/>
                    <a:lstStyle/>
                    <a:p>
                      <a:pPr indent="0" lvl="0" marL="0" marR="0" rtl="0" algn="l">
                        <a:lnSpc>
                          <a:spcPct val="100000"/>
                        </a:lnSpc>
                        <a:spcBef>
                          <a:spcPts val="0"/>
                        </a:spcBef>
                        <a:spcAft>
                          <a:spcPts val="0"/>
                        </a:spcAft>
                        <a:buClr>
                          <a:srgbClr val="000000"/>
                        </a:buClr>
                        <a:buSzPts val="1100"/>
                        <a:buFont typeface="Arial"/>
                        <a:buNone/>
                      </a:pPr>
                      <a:r>
                        <a:rPr b="1" lang="en-US" sz="1200" u="none" cap="none" strike="noStrike">
                          <a:solidFill>
                            <a:srgbClr val="003087"/>
                          </a:solidFill>
                          <a:latin typeface="Open Sans"/>
                          <a:ea typeface="Open Sans"/>
                          <a:cs typeface="Open Sans"/>
                          <a:sym typeface="Open Sans"/>
                        </a:rPr>
                        <a:t>Energy</a:t>
                      </a:r>
                      <a:endParaRPr sz="1200" u="none" cap="none" strike="noStrike">
                        <a:solidFill>
                          <a:srgbClr val="003087"/>
                        </a:solidFill>
                        <a:latin typeface="Open Sans"/>
                        <a:ea typeface="Open Sans"/>
                        <a:cs typeface="Open Sans"/>
                        <a:sym typeface="Open Sans"/>
                      </a:endParaRPr>
                    </a:p>
                  </a:txBody>
                  <a:tcPr marT="24925" marB="24925" marR="24925" marL="2492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200" u="none" cap="none" strike="noStrike">
                          <a:solidFill>
                            <a:srgbClr val="003087"/>
                          </a:solidFill>
                          <a:latin typeface="Open Sans"/>
                          <a:ea typeface="Open Sans"/>
                          <a:cs typeface="Open Sans"/>
                          <a:sym typeface="Open Sans"/>
                        </a:rPr>
                        <a:t>Alkaline Battery Pack or Lithium</a:t>
                      </a:r>
                      <a:endParaRPr sz="1200" u="none" cap="none" strike="noStrike">
                        <a:solidFill>
                          <a:srgbClr val="003087"/>
                        </a:solidFill>
                        <a:latin typeface="Open Sans"/>
                        <a:ea typeface="Open Sans"/>
                        <a:cs typeface="Open Sans"/>
                        <a:sym typeface="Open Sans"/>
                      </a:endParaRPr>
                    </a:p>
                  </a:txBody>
                  <a:tcPr marT="24925" marB="24925" marR="24925" marL="24925" anchor="ctr"/>
                </a:tc>
              </a:tr>
              <a:tr h="379325">
                <a:tc>
                  <a:txBody>
                    <a:bodyPr/>
                    <a:lstStyle/>
                    <a:p>
                      <a:pPr indent="0" lvl="0" marL="0" marR="0" rtl="0" algn="l">
                        <a:lnSpc>
                          <a:spcPct val="100000"/>
                        </a:lnSpc>
                        <a:spcBef>
                          <a:spcPts val="0"/>
                        </a:spcBef>
                        <a:spcAft>
                          <a:spcPts val="0"/>
                        </a:spcAft>
                        <a:buClr>
                          <a:srgbClr val="000000"/>
                        </a:buClr>
                        <a:buSzPts val="1100"/>
                        <a:buFont typeface="Arial"/>
                        <a:buNone/>
                      </a:pPr>
                      <a:r>
                        <a:rPr b="1" lang="en-US" sz="1200" u="none" cap="none" strike="noStrike">
                          <a:solidFill>
                            <a:srgbClr val="003087"/>
                          </a:solidFill>
                          <a:latin typeface="Open Sans"/>
                          <a:ea typeface="Open Sans"/>
                          <a:cs typeface="Open Sans"/>
                          <a:sym typeface="Open Sans"/>
                        </a:rPr>
                        <a:t>Features</a:t>
                      </a:r>
                      <a:endParaRPr sz="1200" u="none" cap="none" strike="noStrike">
                        <a:solidFill>
                          <a:srgbClr val="003087"/>
                        </a:solidFill>
                        <a:latin typeface="Open Sans"/>
                        <a:ea typeface="Open Sans"/>
                        <a:cs typeface="Open Sans"/>
                        <a:sym typeface="Open Sans"/>
                      </a:endParaRPr>
                    </a:p>
                  </a:txBody>
                  <a:tcPr marT="24925" marB="24925" marR="24925" marL="2492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200" u="none" cap="none" strike="noStrike">
                          <a:solidFill>
                            <a:srgbClr val="003087"/>
                          </a:solidFill>
                          <a:latin typeface="Open Sans"/>
                          <a:ea typeface="Open Sans"/>
                          <a:cs typeface="Open Sans"/>
                          <a:sym typeface="Open Sans"/>
                        </a:rPr>
                        <a:t>Air deployable, Moorable</a:t>
                      </a:r>
                      <a:endParaRPr sz="1200" u="none" cap="none" strike="noStrike">
                        <a:solidFill>
                          <a:srgbClr val="003087"/>
                        </a:solidFill>
                        <a:latin typeface="Open Sans"/>
                        <a:ea typeface="Open Sans"/>
                        <a:cs typeface="Open Sans"/>
                        <a:sym typeface="Open Sans"/>
                      </a:endParaRPr>
                    </a:p>
                  </a:txBody>
                  <a:tcPr marT="24925" marB="24925" marR="24925" marL="24925" anchor="ctr"/>
                </a:tc>
              </a:tr>
              <a:tr h="1412875">
                <a:tc>
                  <a:txBody>
                    <a:bodyPr/>
                    <a:lstStyle/>
                    <a:p>
                      <a:pPr indent="0" lvl="0" marL="0" marR="0" rtl="0" algn="l">
                        <a:lnSpc>
                          <a:spcPct val="100000"/>
                        </a:lnSpc>
                        <a:spcBef>
                          <a:spcPts val="0"/>
                        </a:spcBef>
                        <a:spcAft>
                          <a:spcPts val="0"/>
                        </a:spcAft>
                        <a:buClr>
                          <a:srgbClr val="000000"/>
                        </a:buClr>
                        <a:buSzPts val="1100"/>
                        <a:buFont typeface="Arial"/>
                        <a:buNone/>
                      </a:pPr>
                      <a:r>
                        <a:rPr b="1" lang="en-US" sz="1200" u="none" cap="none" strike="noStrike">
                          <a:solidFill>
                            <a:srgbClr val="003087"/>
                          </a:solidFill>
                          <a:latin typeface="Open Sans"/>
                          <a:ea typeface="Open Sans"/>
                          <a:cs typeface="Open Sans"/>
                          <a:sym typeface="Open Sans"/>
                        </a:rPr>
                        <a:t>Sensors</a:t>
                      </a:r>
                      <a:endParaRPr sz="1200" u="none" cap="none" strike="noStrike">
                        <a:solidFill>
                          <a:srgbClr val="003087"/>
                        </a:solidFill>
                        <a:latin typeface="Open Sans"/>
                        <a:ea typeface="Open Sans"/>
                        <a:cs typeface="Open Sans"/>
                        <a:sym typeface="Open Sans"/>
                      </a:endParaRPr>
                    </a:p>
                  </a:txBody>
                  <a:tcPr marT="24925" marB="24925" marR="24925" marL="24925" anchor="ctr"/>
                </a:tc>
                <a:tc>
                  <a:txBody>
                    <a:bodyPr/>
                    <a:lstStyle/>
                    <a:p>
                      <a:pPr indent="0" lvl="0" marL="0" marR="0" rtl="0" algn="l">
                        <a:lnSpc>
                          <a:spcPct val="100000"/>
                        </a:lnSpc>
                        <a:spcBef>
                          <a:spcPts val="0"/>
                        </a:spcBef>
                        <a:spcAft>
                          <a:spcPts val="0"/>
                        </a:spcAft>
                        <a:buClr>
                          <a:srgbClr val="003087"/>
                        </a:buClr>
                        <a:buSzPts val="1200"/>
                        <a:buFont typeface="Open Sans"/>
                        <a:buNone/>
                      </a:pPr>
                      <a:r>
                        <a:rPr lang="en-US" sz="1200" u="sng" cap="none" strike="noStrike">
                          <a:solidFill>
                            <a:srgbClr val="003087"/>
                          </a:solidFill>
                          <a:latin typeface="Open Sans"/>
                          <a:ea typeface="Open Sans"/>
                          <a:cs typeface="Open Sans"/>
                          <a:sym typeface="Open Sans"/>
                        </a:rPr>
                        <a:t>Pressure:</a:t>
                      </a:r>
                      <a:r>
                        <a:rPr lang="en-US" sz="1200" u="none" cap="none" strike="noStrike">
                          <a:solidFill>
                            <a:srgbClr val="003087"/>
                          </a:solidFill>
                          <a:latin typeface="Open Sans"/>
                          <a:ea typeface="Open Sans"/>
                          <a:cs typeface="Open Sans"/>
                          <a:sym typeface="Open Sans"/>
                        </a:rPr>
                        <a:t> Keller 9LX-30Bar</a:t>
                      </a:r>
                      <a:endParaRPr sz="1200" u="none" cap="none" strike="noStrike">
                        <a:solidFill>
                          <a:srgbClr val="003087"/>
                        </a:solidFill>
                        <a:latin typeface="Open Sans"/>
                        <a:ea typeface="Open Sans"/>
                        <a:cs typeface="Open Sans"/>
                        <a:sym typeface="Open Sans"/>
                      </a:endParaRPr>
                    </a:p>
                    <a:p>
                      <a:pPr indent="0" lvl="0" marL="0" marR="0" rtl="0" algn="l">
                        <a:lnSpc>
                          <a:spcPct val="100000"/>
                        </a:lnSpc>
                        <a:spcBef>
                          <a:spcPts val="0"/>
                        </a:spcBef>
                        <a:spcAft>
                          <a:spcPts val="0"/>
                        </a:spcAft>
                        <a:buClr>
                          <a:srgbClr val="003087"/>
                        </a:buClr>
                        <a:buSzPts val="1200"/>
                        <a:buFont typeface="Open Sans"/>
                        <a:buNone/>
                      </a:pPr>
                      <a:r>
                        <a:rPr lang="en-US" sz="1200" u="sng" cap="none" strike="noStrike">
                          <a:solidFill>
                            <a:srgbClr val="003087"/>
                          </a:solidFill>
                          <a:latin typeface="Open Sans"/>
                          <a:ea typeface="Open Sans"/>
                          <a:cs typeface="Open Sans"/>
                          <a:sym typeface="Open Sans"/>
                        </a:rPr>
                        <a:t>Temperature:</a:t>
                      </a:r>
                      <a:r>
                        <a:rPr lang="en-US" sz="1200" u="none" cap="none" strike="noStrike">
                          <a:solidFill>
                            <a:srgbClr val="003087"/>
                          </a:solidFill>
                          <a:latin typeface="Open Sans"/>
                          <a:ea typeface="Open Sans"/>
                          <a:cs typeface="Open Sans"/>
                          <a:sym typeface="Open Sans"/>
                        </a:rPr>
                        <a:t> S9 OEM Temp, RBRcoda*</a:t>
                      </a:r>
                      <a:endParaRPr sz="1200" u="none" cap="none" strike="noStrike">
                        <a:solidFill>
                          <a:srgbClr val="003087"/>
                        </a:solidFill>
                        <a:latin typeface="Open Sans"/>
                        <a:ea typeface="Open Sans"/>
                        <a:cs typeface="Open Sans"/>
                        <a:sym typeface="Open Sans"/>
                      </a:endParaRPr>
                    </a:p>
                    <a:p>
                      <a:pPr indent="0" lvl="0" marL="0" marR="0" rtl="0" algn="l">
                        <a:lnSpc>
                          <a:spcPct val="100000"/>
                        </a:lnSpc>
                        <a:spcBef>
                          <a:spcPts val="0"/>
                        </a:spcBef>
                        <a:spcAft>
                          <a:spcPts val="0"/>
                        </a:spcAft>
                        <a:buClr>
                          <a:srgbClr val="003087"/>
                        </a:buClr>
                        <a:buSzPts val="1200"/>
                        <a:buFont typeface="Open Sans"/>
                        <a:buNone/>
                      </a:pPr>
                      <a:r>
                        <a:rPr lang="en-US" sz="1200" u="sng" cap="none" strike="noStrike">
                          <a:solidFill>
                            <a:srgbClr val="003087"/>
                          </a:solidFill>
                          <a:latin typeface="Open Sans"/>
                          <a:ea typeface="Open Sans"/>
                          <a:cs typeface="Open Sans"/>
                          <a:sym typeface="Open Sans"/>
                        </a:rPr>
                        <a:t>Conductivity:*</a:t>
                      </a:r>
                      <a:r>
                        <a:rPr lang="en-US" sz="1200" u="none" cap="none" strike="noStrike">
                          <a:solidFill>
                            <a:srgbClr val="003087"/>
                          </a:solidFill>
                          <a:latin typeface="Open Sans"/>
                          <a:ea typeface="Open Sans"/>
                          <a:cs typeface="Open Sans"/>
                          <a:sym typeface="Open Sans"/>
                        </a:rPr>
                        <a:t> S9 OEM CT, PMEL OEM, Aanderaa 5819</a:t>
                      </a:r>
                      <a:endParaRPr sz="1200" u="none" cap="none" strike="noStrike">
                        <a:solidFill>
                          <a:srgbClr val="003087"/>
                        </a:solidFill>
                        <a:latin typeface="Open Sans"/>
                        <a:ea typeface="Open Sans"/>
                        <a:cs typeface="Open Sans"/>
                        <a:sym typeface="Open Sans"/>
                      </a:endParaRPr>
                    </a:p>
                    <a:p>
                      <a:pPr indent="0" lvl="0" marL="0" marR="0" rtl="0" algn="l">
                        <a:lnSpc>
                          <a:spcPct val="100000"/>
                        </a:lnSpc>
                        <a:spcBef>
                          <a:spcPts val="0"/>
                        </a:spcBef>
                        <a:spcAft>
                          <a:spcPts val="0"/>
                        </a:spcAft>
                        <a:buClr>
                          <a:srgbClr val="003087"/>
                        </a:buClr>
                        <a:buSzPts val="1200"/>
                        <a:buFont typeface="Open Sans"/>
                        <a:buNone/>
                      </a:pPr>
                      <a:r>
                        <a:rPr lang="en-US" sz="1200" u="sng" cap="none" strike="noStrike">
                          <a:solidFill>
                            <a:srgbClr val="003087"/>
                          </a:solidFill>
                          <a:latin typeface="Open Sans"/>
                          <a:ea typeface="Open Sans"/>
                          <a:cs typeface="Open Sans"/>
                          <a:sym typeface="Open Sans"/>
                        </a:rPr>
                        <a:t>CHLA:*</a:t>
                      </a:r>
                      <a:r>
                        <a:rPr lang="en-US" sz="1200" u="none" cap="none" strike="noStrike">
                          <a:solidFill>
                            <a:srgbClr val="003087"/>
                          </a:solidFill>
                          <a:latin typeface="Open Sans"/>
                          <a:ea typeface="Open Sans"/>
                          <a:cs typeface="Open Sans"/>
                          <a:sym typeface="Open Sans"/>
                        </a:rPr>
                        <a:t> Turner Cyclops 7F</a:t>
                      </a:r>
                      <a:endParaRPr sz="1200" u="none" cap="none" strike="noStrike">
                        <a:solidFill>
                          <a:srgbClr val="003087"/>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lang="en-US" sz="1300" u="sng" cap="none" strike="noStrike">
                          <a:solidFill>
                            <a:srgbClr val="003087"/>
                          </a:solidFill>
                          <a:latin typeface="Open Sans"/>
                          <a:ea typeface="Open Sans"/>
                          <a:cs typeface="Open Sans"/>
                          <a:sym typeface="Open Sans"/>
                        </a:rPr>
                        <a:t>PAR:*</a:t>
                      </a:r>
                      <a:r>
                        <a:rPr lang="en-US" sz="1300" u="none" cap="none" strike="noStrike">
                          <a:solidFill>
                            <a:srgbClr val="003087"/>
                          </a:solidFill>
                          <a:latin typeface="Open Sans"/>
                          <a:ea typeface="Open Sans"/>
                          <a:cs typeface="Open Sans"/>
                          <a:sym typeface="Open Sans"/>
                        </a:rPr>
                        <a:t> TAG-PARQ</a:t>
                      </a:r>
                      <a:endParaRPr sz="1300" u="none" cap="none" strike="noStrike">
                        <a:solidFill>
                          <a:srgbClr val="003087"/>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lang="en-US" sz="1300" u="sng" cap="none" strike="noStrike">
                          <a:solidFill>
                            <a:srgbClr val="003087"/>
                          </a:solidFill>
                          <a:latin typeface="Open Sans"/>
                          <a:ea typeface="Open Sans"/>
                          <a:cs typeface="Open Sans"/>
                          <a:sym typeface="Open Sans"/>
                        </a:rPr>
                        <a:t>DO*: </a:t>
                      </a:r>
                      <a:r>
                        <a:rPr lang="en-US" sz="1100" u="none" cap="none" strike="noStrike">
                          <a:solidFill>
                            <a:srgbClr val="003087"/>
                          </a:solidFill>
                          <a:latin typeface="Open Sans"/>
                          <a:ea typeface="Open Sans"/>
                          <a:cs typeface="Open Sans"/>
                          <a:sym typeface="Open Sans"/>
                        </a:rPr>
                        <a:t>Aanderaa </a:t>
                      </a:r>
                      <a:r>
                        <a:rPr lang="en-US" sz="1200" u="none" cap="none" strike="noStrike">
                          <a:solidFill>
                            <a:srgbClr val="003087"/>
                          </a:solidFill>
                          <a:latin typeface="Open Sans"/>
                          <a:ea typeface="Open Sans"/>
                          <a:cs typeface="Open Sans"/>
                          <a:sym typeface="Open Sans"/>
                        </a:rPr>
                        <a:t>Optode 5730, </a:t>
                      </a:r>
                      <a:r>
                        <a:rPr lang="en-US" sz="1100" u="none" cap="none" strike="noStrike">
                          <a:solidFill>
                            <a:srgbClr val="003087"/>
                          </a:solidFill>
                          <a:latin typeface="Open Sans"/>
                          <a:ea typeface="Open Sans"/>
                          <a:cs typeface="Open Sans"/>
                          <a:sym typeface="Open Sans"/>
                        </a:rPr>
                        <a:t>PME microDOT</a:t>
                      </a:r>
                      <a:endParaRPr sz="1400" u="none" cap="none" strike="noStrike">
                        <a:solidFill>
                          <a:srgbClr val="003087"/>
                        </a:solidFill>
                        <a:latin typeface="Open Sans"/>
                        <a:ea typeface="Open Sans"/>
                        <a:cs typeface="Open Sans"/>
                        <a:sym typeface="Open Sans"/>
                      </a:endParaRPr>
                    </a:p>
                  </a:txBody>
                  <a:tcPr marT="24925" marB="24925" marR="24925" marL="24925" anchor="ctr"/>
                </a:tc>
              </a:tr>
            </a:tbl>
          </a:graphicData>
        </a:graphic>
      </p:graphicFrame>
      <p:pic>
        <p:nvPicPr>
          <p:cNvPr id="161" name="Google Shape;161;p9"/>
          <p:cNvPicPr preferRelativeResize="0"/>
          <p:nvPr/>
        </p:nvPicPr>
        <p:blipFill rotWithShape="1">
          <a:blip r:embed="rId5">
            <a:alphaModFix/>
          </a:blip>
          <a:srcRect b="0" l="0" r="0" t="0"/>
          <a:stretch/>
        </p:blipFill>
        <p:spPr>
          <a:xfrm>
            <a:off x="6105747" y="270795"/>
            <a:ext cx="5865674" cy="641876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6"/>
          <p:cNvPicPr preferRelativeResize="0"/>
          <p:nvPr/>
        </p:nvPicPr>
        <p:blipFill rotWithShape="1">
          <a:blip r:embed="rId3">
            <a:alphaModFix/>
          </a:blip>
          <a:srcRect b="0" l="39176" r="0" t="30789"/>
          <a:stretch/>
        </p:blipFill>
        <p:spPr>
          <a:xfrm>
            <a:off x="5286054" y="1331948"/>
            <a:ext cx="6284917" cy="5526052"/>
          </a:xfrm>
          <a:prstGeom prst="rect">
            <a:avLst/>
          </a:prstGeom>
          <a:noFill/>
          <a:ln>
            <a:noFill/>
          </a:ln>
        </p:spPr>
      </p:pic>
      <p:sp>
        <p:nvSpPr>
          <p:cNvPr id="167" name="Google Shape;167;p6"/>
          <p:cNvSpPr txBox="1"/>
          <p:nvPr/>
        </p:nvSpPr>
        <p:spPr>
          <a:xfrm>
            <a:off x="54142" y="67130"/>
            <a:ext cx="12083716" cy="1103318"/>
          </a:xfrm>
          <a:prstGeom prst="rect">
            <a:avLst/>
          </a:prstGeom>
          <a:noFill/>
          <a:ln>
            <a:noFill/>
          </a:ln>
        </p:spPr>
        <p:txBody>
          <a:bodyPr anchorCtr="0" anchor="ctr" bIns="45525" lIns="91100" spcFirstLastPara="1" rIns="91100" wrap="square" tIns="45525">
            <a:noAutofit/>
          </a:bodyPr>
          <a:lstStyle/>
          <a:p>
            <a:pPr indent="0" lvl="0" marL="0" marR="0" rtl="0" algn="l">
              <a:lnSpc>
                <a:spcPct val="115000"/>
              </a:lnSpc>
              <a:spcBef>
                <a:spcPts val="0"/>
              </a:spcBef>
              <a:spcAft>
                <a:spcPts val="0"/>
              </a:spcAft>
              <a:buClr>
                <a:srgbClr val="003087"/>
              </a:buClr>
              <a:buSzPts val="2800"/>
              <a:buFont typeface="PT Serif"/>
              <a:buNone/>
            </a:pPr>
            <a:r>
              <a:rPr b="1" i="1" lang="en-US" sz="3750" u="none" cap="none" strike="noStrike">
                <a:solidFill>
                  <a:srgbClr val="003087"/>
                </a:solidFill>
                <a:latin typeface="PT Serif"/>
                <a:ea typeface="PT Serif"/>
                <a:cs typeface="PT Serif"/>
                <a:sym typeface="PT Serif"/>
              </a:rPr>
              <a:t>Low Cost Profiler (LCP): Sensors &amp; Peripherals</a:t>
            </a:r>
            <a:endParaRPr b="1" i="1" sz="3750" u="none" cap="none" strike="noStrike">
              <a:solidFill>
                <a:srgbClr val="003087"/>
              </a:solidFill>
              <a:latin typeface="PT Serif"/>
              <a:ea typeface="PT Serif"/>
              <a:cs typeface="PT Serif"/>
              <a:sym typeface="PT Serif"/>
            </a:endParaRPr>
          </a:p>
        </p:txBody>
      </p:sp>
      <p:sp>
        <p:nvSpPr>
          <p:cNvPr id="168" name="Google Shape;168;p6"/>
          <p:cNvSpPr txBox="1"/>
          <p:nvPr/>
        </p:nvSpPr>
        <p:spPr>
          <a:xfrm>
            <a:off x="260880" y="1158559"/>
            <a:ext cx="5651126" cy="5632311"/>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OEM calibrated sensors</a:t>
            </a:r>
            <a:endParaRPr b="0" i="0" sz="1400" u="none" cap="none" strike="noStrike">
              <a:solidFill>
                <a:srgbClr val="000000"/>
              </a:solidFill>
              <a:latin typeface="Arial"/>
              <a:ea typeface="Arial"/>
              <a:cs typeface="Arial"/>
              <a:sym typeface="Arial"/>
            </a:endParaRPr>
          </a:p>
          <a:p>
            <a:pPr indent="-190500" lvl="0" marL="34290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Libre Franklin"/>
              <a:ea typeface="Libre Franklin"/>
              <a:cs typeface="Libre Franklin"/>
              <a:sym typeface="Libre Franklin"/>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5 universal sensor ports</a:t>
            </a:r>
            <a:endParaRPr b="0" i="0" sz="1400" u="none" cap="none" strike="noStrike">
              <a:solidFill>
                <a:srgbClr val="000000"/>
              </a:solidFill>
              <a:latin typeface="Arial"/>
              <a:ea typeface="Arial"/>
              <a:cs typeface="Arial"/>
              <a:sym typeface="Arial"/>
            </a:endParaRPr>
          </a:p>
          <a:p>
            <a:pPr indent="-190500" lvl="0" marL="34290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Libre Franklin"/>
              <a:ea typeface="Libre Franklin"/>
              <a:cs typeface="Libre Franklin"/>
              <a:sym typeface="Libre Franklin"/>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Climate Quality </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Temperature</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Pressure</a:t>
            </a:r>
            <a:endParaRPr b="0" i="0" sz="1400" u="none" cap="none" strike="noStrike">
              <a:solidFill>
                <a:srgbClr val="000000"/>
              </a:solidFill>
              <a:latin typeface="Arial"/>
              <a:ea typeface="Arial"/>
              <a:cs typeface="Arial"/>
              <a:sym typeface="Arial"/>
            </a:endParaRPr>
          </a:p>
          <a:p>
            <a:pPr indent="-190500" lvl="1" marL="80010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Libre Franklin"/>
              <a:ea typeface="Libre Franklin"/>
              <a:cs typeface="Libre Franklin"/>
              <a:sym typeface="Libre Franklin"/>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‘Weather’ Quality</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Conductivity</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CHL-A</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PAR</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DO</a:t>
            </a:r>
            <a:endParaRPr b="0" i="0" sz="1400" u="none" cap="none" strike="noStrike">
              <a:solidFill>
                <a:srgbClr val="000000"/>
              </a:solidFill>
              <a:latin typeface="Arial"/>
              <a:ea typeface="Arial"/>
              <a:cs typeface="Arial"/>
              <a:sym typeface="Arial"/>
            </a:endParaRPr>
          </a:p>
          <a:p>
            <a:pPr indent="-190500" lvl="1" marL="80010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Libre Franklin"/>
              <a:ea typeface="Libre Franklin"/>
              <a:cs typeface="Libre Franklin"/>
              <a:sym typeface="Libre Franklin"/>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Iridium SBD Communications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4"/>
          <p:cNvSpPr txBox="1"/>
          <p:nvPr>
            <p:ph type="title"/>
          </p:nvPr>
        </p:nvSpPr>
        <p:spPr>
          <a:xfrm>
            <a:off x="157316" y="46802"/>
            <a:ext cx="12034684" cy="876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3087"/>
              </a:buClr>
              <a:buSzPts val="1100"/>
              <a:buFont typeface="PT Serif"/>
              <a:buNone/>
            </a:pPr>
            <a:r>
              <a:rPr lang="en-US" sz="3733"/>
              <a:t>LCP: Science Driven Applications</a:t>
            </a:r>
            <a:endParaRPr sz="3733"/>
          </a:p>
        </p:txBody>
      </p:sp>
      <p:pic>
        <p:nvPicPr>
          <p:cNvPr id="174" name="Google Shape;174;p4"/>
          <p:cNvPicPr preferRelativeResize="0"/>
          <p:nvPr/>
        </p:nvPicPr>
        <p:blipFill rotWithShape="1">
          <a:blip r:embed="rId3">
            <a:alphaModFix/>
          </a:blip>
          <a:srcRect b="0" l="0" r="0" t="0"/>
          <a:stretch/>
        </p:blipFill>
        <p:spPr>
          <a:xfrm>
            <a:off x="6540649" y="1611038"/>
            <a:ext cx="5526308" cy="4587211"/>
          </a:xfrm>
          <a:prstGeom prst="rect">
            <a:avLst/>
          </a:prstGeom>
          <a:noFill/>
          <a:ln>
            <a:noFill/>
          </a:ln>
        </p:spPr>
      </p:pic>
      <p:sp>
        <p:nvSpPr>
          <p:cNvPr id="175" name="Google Shape;175;p4"/>
          <p:cNvSpPr txBox="1"/>
          <p:nvPr/>
        </p:nvSpPr>
        <p:spPr>
          <a:xfrm>
            <a:off x="9226013" y="6056988"/>
            <a:ext cx="5086000" cy="451302"/>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333"/>
              <a:buFont typeface="Arial"/>
              <a:buNone/>
            </a:pPr>
            <a:r>
              <a:rPr b="0" i="0" lang="en-US" sz="1333" u="none" cap="none" strike="noStrike">
                <a:solidFill>
                  <a:schemeClr val="dk1"/>
                </a:solidFill>
                <a:latin typeface="Calibri"/>
                <a:ea typeface="Calibri"/>
                <a:cs typeface="Calibri"/>
                <a:sym typeface="Calibri"/>
              </a:rPr>
              <a:t>Graphic Courtesy of</a:t>
            </a:r>
            <a:r>
              <a:rPr b="0" i="0" lang="en-US" sz="1333" u="none" cap="none" strike="noStrike">
                <a:solidFill>
                  <a:srgbClr val="000000"/>
                </a:solidFill>
                <a:latin typeface="Calibri"/>
                <a:ea typeface="Calibri"/>
                <a:cs typeface="Calibri"/>
                <a:sym typeface="Calibri"/>
              </a:rPr>
              <a:t> </a:t>
            </a:r>
            <a:r>
              <a:rPr b="0" i="0" lang="en-US" sz="1333" u="none" cap="none" strike="noStrike">
                <a:solidFill>
                  <a:schemeClr val="dk1"/>
                </a:solidFill>
                <a:latin typeface="Calibri"/>
                <a:ea typeface="Calibri"/>
                <a:cs typeface="Calibri"/>
                <a:sym typeface="Calibri"/>
              </a:rPr>
              <a:t>Adrienne Sutton</a:t>
            </a:r>
            <a:endParaRPr b="0" i="0" sz="1333" u="none" cap="none" strike="noStrike">
              <a:solidFill>
                <a:srgbClr val="000000"/>
              </a:solidFill>
              <a:latin typeface="Calibri"/>
              <a:ea typeface="Calibri"/>
              <a:cs typeface="Calibri"/>
              <a:sym typeface="Calibri"/>
            </a:endParaRPr>
          </a:p>
        </p:txBody>
      </p:sp>
      <p:sp>
        <p:nvSpPr>
          <p:cNvPr id="176" name="Google Shape;176;p4"/>
          <p:cNvSpPr txBox="1"/>
          <p:nvPr/>
        </p:nvSpPr>
        <p:spPr>
          <a:xfrm>
            <a:off x="523558" y="2816603"/>
            <a:ext cx="5651100" cy="32631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Hurricane Intensity</a:t>
            </a:r>
            <a:endParaRPr b="0" i="0" sz="1400" u="none" cap="none" strike="noStrike">
              <a:solidFill>
                <a:schemeClr val="dk1"/>
              </a:solidFill>
              <a:latin typeface="Arial"/>
              <a:ea typeface="Arial"/>
              <a:cs typeface="Arial"/>
              <a:sym typeface="Arial"/>
            </a:endParaRPr>
          </a:p>
          <a:p>
            <a:pPr indent="-190500" lvl="0" marL="34290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Libre Franklin"/>
              <a:ea typeface="Libre Franklin"/>
              <a:cs typeface="Libre Franklin"/>
              <a:sym typeface="Libre Franklin"/>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Bering Sea Fisheries</a:t>
            </a:r>
            <a:endParaRPr b="0" i="0" sz="1400" u="none" cap="none" strike="noStrike">
              <a:solidFill>
                <a:srgbClr val="000000"/>
              </a:solidFill>
              <a:latin typeface="Arial"/>
              <a:ea typeface="Arial"/>
              <a:cs typeface="Arial"/>
              <a:sym typeface="Arial"/>
            </a:endParaRPr>
          </a:p>
          <a:p>
            <a:pPr indent="-190500" lvl="0" marL="34290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accent3"/>
              </a:solidFill>
              <a:latin typeface="Libre Franklin"/>
              <a:ea typeface="Libre Franklin"/>
              <a:cs typeface="Libre Franklin"/>
              <a:sym typeface="Libre Franklin"/>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Arctic HABs and Ice</a:t>
            </a:r>
            <a:endParaRPr b="0" i="0" sz="1400" u="none" cap="none" strike="noStrike">
              <a:solidFill>
                <a:schemeClr val="dk1"/>
              </a:solidFill>
              <a:latin typeface="Arial"/>
              <a:ea typeface="Arial"/>
              <a:cs typeface="Arial"/>
              <a:sym typeface="Arial"/>
            </a:endParaRPr>
          </a:p>
          <a:p>
            <a:pPr indent="-190500" lvl="0" marL="342900" marR="0" rtl="0" algn="l">
              <a:lnSpc>
                <a:spcPct val="100000"/>
              </a:lnSpc>
              <a:spcBef>
                <a:spcPts val="0"/>
              </a:spcBef>
              <a:spcAft>
                <a:spcPts val="0"/>
              </a:spcAft>
              <a:buClr>
                <a:schemeClr val="dk1"/>
              </a:buClr>
              <a:buSzPts val="2400"/>
              <a:buFont typeface="Arial"/>
              <a:buNone/>
            </a:pPr>
            <a:r>
              <a:t/>
            </a:r>
            <a:endParaRPr b="0" i="0" sz="2400" u="none" cap="none" strike="noStrike">
              <a:solidFill>
                <a:srgbClr val="7F7F7F"/>
              </a:solidFill>
              <a:latin typeface="Libre Franklin"/>
              <a:ea typeface="Libre Franklin"/>
              <a:cs typeface="Libre Franklin"/>
              <a:sym typeface="Libre Franklin"/>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accent3"/>
                </a:solidFill>
                <a:latin typeface="Libre Franklin"/>
                <a:ea typeface="Libre Franklin"/>
                <a:cs typeface="Libre Franklin"/>
                <a:sym typeface="Libre Franklin"/>
              </a:rPr>
              <a:t>Coastal &amp; Coral Reef Monitoring</a:t>
            </a:r>
            <a:endParaRPr b="0" i="0" sz="1400" u="none" cap="none" strike="noStrike">
              <a:solidFill>
                <a:schemeClr val="accent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3"/>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accent3"/>
                </a:solidFill>
                <a:latin typeface="Libre Franklin"/>
                <a:ea typeface="Libre Franklin"/>
                <a:cs typeface="Libre Franklin"/>
                <a:sym typeface="Libre Franklin"/>
              </a:rPr>
              <a:t>ONR Profiling CTD BAA</a:t>
            </a:r>
            <a:endParaRPr b="0" i="0" sz="1400" u="none" cap="none" strike="noStrike">
              <a:solidFill>
                <a:schemeClr val="accent3"/>
              </a:solidFill>
              <a:latin typeface="Arial"/>
              <a:ea typeface="Arial"/>
              <a:cs typeface="Arial"/>
              <a:sym typeface="Arial"/>
            </a:endParaRPr>
          </a:p>
        </p:txBody>
      </p:sp>
      <p:sp>
        <p:nvSpPr>
          <p:cNvPr id="177" name="Google Shape;177;p4"/>
          <p:cNvSpPr txBox="1"/>
          <p:nvPr/>
        </p:nvSpPr>
        <p:spPr>
          <a:xfrm>
            <a:off x="523558" y="1152591"/>
            <a:ext cx="9601200" cy="519056"/>
          </a:xfrm>
          <a:prstGeom prst="rect">
            <a:avLst/>
          </a:prstGeom>
          <a:noFill/>
          <a:ln>
            <a:noFill/>
          </a:ln>
        </p:spPr>
        <p:txBody>
          <a:bodyPr anchorCtr="0" anchor="ctr" bIns="34275" lIns="68575" spcFirstLastPara="1" rIns="68575" wrap="square" tIns="34275">
            <a:normAutofit/>
          </a:bodyPr>
          <a:lstStyle/>
          <a:p>
            <a:pPr indent="0" lvl="0" marL="0" marR="0" rtl="0" algn="l">
              <a:lnSpc>
                <a:spcPct val="100000"/>
              </a:lnSpc>
              <a:spcBef>
                <a:spcPts val="0"/>
              </a:spcBef>
              <a:spcAft>
                <a:spcPts val="0"/>
              </a:spcAft>
              <a:buClr>
                <a:srgbClr val="003087"/>
              </a:buClr>
              <a:buSzPts val="1100"/>
              <a:buFont typeface="PT Serif"/>
              <a:buNone/>
            </a:pPr>
            <a:r>
              <a:rPr b="1" i="0" lang="en-US" sz="2800" u="none" cap="none" strike="noStrike">
                <a:solidFill>
                  <a:schemeClr val="dk1"/>
                </a:solidFill>
                <a:latin typeface="Times New Roman"/>
                <a:ea typeface="Times New Roman"/>
                <a:cs typeface="Times New Roman"/>
                <a:sym typeface="Times New Roman"/>
              </a:rPr>
              <a:t>LCP Fills Gaps in Observational Arrays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Three-dimensional cartoon of the temperature distribution in the upper ocean and the impact of a hurricane passing over the ocean when the oceanic mixed layer is thin like in the Gulf of Mexico and thick like the Caribbean Sea." id="183" name="Google Shape;183;p2"/>
          <p:cNvPicPr preferRelativeResize="0"/>
          <p:nvPr/>
        </p:nvPicPr>
        <p:blipFill rotWithShape="1">
          <a:blip r:embed="rId3">
            <a:alphaModFix/>
          </a:blip>
          <a:srcRect b="0" l="0" r="0" t="0"/>
          <a:stretch/>
        </p:blipFill>
        <p:spPr>
          <a:xfrm>
            <a:off x="6761852" y="1738190"/>
            <a:ext cx="5002852" cy="3741745"/>
          </a:xfrm>
          <a:prstGeom prst="rect">
            <a:avLst/>
          </a:prstGeom>
          <a:noFill/>
          <a:ln>
            <a:noFill/>
          </a:ln>
        </p:spPr>
      </p:pic>
      <p:sp>
        <p:nvSpPr>
          <p:cNvPr id="184" name="Google Shape;184;p2"/>
          <p:cNvSpPr txBox="1"/>
          <p:nvPr/>
        </p:nvSpPr>
        <p:spPr>
          <a:xfrm>
            <a:off x="9359956" y="5556968"/>
            <a:ext cx="323747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Credit: National Geographic</a:t>
            </a:r>
            <a:endParaRPr b="0" i="0" sz="1400" u="none" cap="none" strike="noStrike">
              <a:solidFill>
                <a:srgbClr val="000000"/>
              </a:solidFill>
              <a:latin typeface="Arial"/>
              <a:ea typeface="Arial"/>
              <a:cs typeface="Arial"/>
              <a:sym typeface="Arial"/>
            </a:endParaRPr>
          </a:p>
        </p:txBody>
      </p:sp>
      <p:sp>
        <p:nvSpPr>
          <p:cNvPr id="185" name="Google Shape;185;p2"/>
          <p:cNvSpPr txBox="1"/>
          <p:nvPr/>
        </p:nvSpPr>
        <p:spPr>
          <a:xfrm>
            <a:off x="361052" y="985819"/>
            <a:ext cx="6400800" cy="28623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GOAL: </a:t>
            </a:r>
            <a:r>
              <a:rPr b="0" i="0" lang="en-US" sz="2000" u="none" cap="none" strike="noStrike">
                <a:solidFill>
                  <a:srgbClr val="000000"/>
                </a:solidFill>
                <a:latin typeface="Times New Roman"/>
                <a:ea typeface="Times New Roman"/>
                <a:cs typeface="Times New Roman"/>
                <a:sym typeface="Times New Roman"/>
              </a:rPr>
              <a:t>Subsurface ocean temperature and salinity measurements are needed ahead of and underneath hurricanes 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Initialize coupled forecast models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Improve mixing parameterizations in models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Aid forecaster situational awareness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Improve understanding of hurricane air-sea interaction processes</a:t>
            </a:r>
            <a:endParaRPr b="0" i="0" sz="1400" u="none" cap="none" strike="noStrike">
              <a:solidFill>
                <a:srgbClr val="000000"/>
              </a:solidFill>
              <a:latin typeface="Arial"/>
              <a:ea typeface="Arial"/>
              <a:cs typeface="Arial"/>
              <a:sym typeface="Arial"/>
            </a:endParaRPr>
          </a:p>
        </p:txBody>
      </p:sp>
      <p:sp>
        <p:nvSpPr>
          <p:cNvPr id="186" name="Google Shape;186;p2"/>
          <p:cNvSpPr txBox="1"/>
          <p:nvPr/>
        </p:nvSpPr>
        <p:spPr>
          <a:xfrm>
            <a:off x="157316" y="46802"/>
            <a:ext cx="12034684" cy="8764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3087"/>
              </a:buClr>
              <a:buSzPts val="1100"/>
              <a:buFont typeface="PT Serif"/>
              <a:buNone/>
            </a:pPr>
            <a:r>
              <a:rPr b="1" i="1" lang="en-US" sz="3733" u="none" cap="none" strike="noStrike">
                <a:solidFill>
                  <a:srgbClr val="003087"/>
                </a:solidFill>
                <a:latin typeface="PT Serif"/>
                <a:ea typeface="PT Serif"/>
                <a:cs typeface="PT Serif"/>
                <a:sym typeface="PT Serif"/>
              </a:rPr>
              <a:t>LCP: Hurricane Application</a:t>
            </a:r>
            <a:endParaRPr b="0" i="0" sz="1400" u="none" cap="none" strike="noStrike">
              <a:solidFill>
                <a:srgbClr val="000000"/>
              </a:solidFill>
              <a:latin typeface="Arial"/>
              <a:ea typeface="Arial"/>
              <a:cs typeface="Arial"/>
              <a:sym typeface="Arial"/>
            </a:endParaRPr>
          </a:p>
        </p:txBody>
      </p:sp>
      <p:sp>
        <p:nvSpPr>
          <p:cNvPr id="187" name="Google Shape;187;p2"/>
          <p:cNvSpPr txBox="1"/>
          <p:nvPr/>
        </p:nvSpPr>
        <p:spPr>
          <a:xfrm>
            <a:off x="361052" y="3900290"/>
            <a:ext cx="6400800" cy="31700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Existing Technology: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ALAMO Float = Expensive: ~$400K for 16 floats deployed ahead of Hurricanes Irma and Florence</a:t>
            </a:r>
            <a:endParaRPr b="0" i="0" sz="1400" u="none" cap="none" strike="noStrike">
              <a:solidFill>
                <a:srgbClr val="000000"/>
              </a:solidFill>
              <a:latin typeface="Arial"/>
              <a:ea typeface="Arial"/>
              <a:cs typeface="Arial"/>
              <a:sym typeface="Arial"/>
            </a:endParaRPr>
          </a:p>
          <a:p>
            <a:pPr indent="-215900" lvl="1" marL="3429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AxBT &amp; AxCTD = Less expensive (~$1000) but only gives one temperature or CTD profile</a:t>
            </a:r>
            <a:endParaRPr b="0" i="0" sz="1400" u="none" cap="none" strike="noStrike">
              <a:solidFill>
                <a:srgbClr val="000000"/>
              </a:solidFill>
              <a:latin typeface="Arial"/>
              <a:ea typeface="Arial"/>
              <a:cs typeface="Arial"/>
              <a:sym typeface="Arial"/>
            </a:endParaRPr>
          </a:p>
          <a:p>
            <a:pPr indent="-215900" lvl="0" marL="3429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Partner: AOML (Jun Zhang, Greg Foltz)</a:t>
            </a:r>
            <a:endParaRPr b="0" i="0" sz="1400" u="none" cap="none" strike="noStrike">
              <a:solidFill>
                <a:srgbClr val="000000"/>
              </a:solidFill>
              <a:latin typeface="Arial"/>
              <a:ea typeface="Arial"/>
              <a:cs typeface="Arial"/>
              <a:sym typeface="Arial"/>
            </a:endParaRPr>
          </a:p>
          <a:p>
            <a:pPr indent="-215900" lvl="0" marL="3429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4"/>
          <p:cNvSpPr txBox="1"/>
          <p:nvPr/>
        </p:nvSpPr>
        <p:spPr>
          <a:xfrm>
            <a:off x="83191" y="636302"/>
            <a:ext cx="7055987" cy="231840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33"/>
              <a:buFont typeface="Arial"/>
              <a:buNone/>
            </a:pPr>
            <a:r>
              <a:rPr b="1" i="0" lang="en-US" sz="2533" u="none" cap="none" strike="noStrike">
                <a:solidFill>
                  <a:srgbClr val="000000"/>
                </a:solidFill>
                <a:latin typeface="Times New Roman"/>
                <a:ea typeface="Times New Roman"/>
                <a:cs typeface="Times New Roman"/>
                <a:sym typeface="Times New Roman"/>
              </a:rPr>
              <a:t>GOAL:</a:t>
            </a:r>
            <a:r>
              <a:rPr b="0" i="0" lang="en-US" sz="2533" u="none" cap="none" strike="noStrike">
                <a:solidFill>
                  <a:srgbClr val="000000"/>
                </a:solidFill>
                <a:latin typeface="Times New Roman"/>
                <a:ea typeface="Times New Roman"/>
                <a:cs typeface="Times New Roman"/>
                <a:sym typeface="Times New Roman"/>
              </a:rPr>
              <a:t> Improve understanding of regional oceanography and support fishing industry with tools that may reduce halibut bycatch </a:t>
            </a:r>
            <a:endParaRPr b="0" i="0" sz="2533"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pic>
        <p:nvPicPr>
          <p:cNvPr id="193" name="Google Shape;193;p34"/>
          <p:cNvPicPr preferRelativeResize="0"/>
          <p:nvPr/>
        </p:nvPicPr>
        <p:blipFill rotWithShape="1">
          <a:blip r:embed="rId3">
            <a:alphaModFix/>
          </a:blip>
          <a:srcRect b="0" l="0" r="0" t="0"/>
          <a:stretch/>
        </p:blipFill>
        <p:spPr>
          <a:xfrm>
            <a:off x="8" y="6028939"/>
            <a:ext cx="833589" cy="829056"/>
          </a:xfrm>
          <a:prstGeom prst="rect">
            <a:avLst/>
          </a:prstGeom>
          <a:noFill/>
          <a:ln>
            <a:noFill/>
          </a:ln>
        </p:spPr>
      </p:pic>
      <p:pic>
        <p:nvPicPr>
          <p:cNvPr id="194" name="Google Shape;194;p34"/>
          <p:cNvPicPr preferRelativeResize="0"/>
          <p:nvPr/>
        </p:nvPicPr>
        <p:blipFill rotWithShape="1">
          <a:blip r:embed="rId4">
            <a:alphaModFix/>
          </a:blip>
          <a:srcRect b="8403" l="8071" r="0" t="4955"/>
          <a:stretch/>
        </p:blipFill>
        <p:spPr>
          <a:xfrm>
            <a:off x="7139178" y="1230776"/>
            <a:ext cx="4857733" cy="3703920"/>
          </a:xfrm>
          <a:prstGeom prst="rect">
            <a:avLst/>
          </a:prstGeom>
          <a:noFill/>
          <a:ln>
            <a:noFill/>
          </a:ln>
        </p:spPr>
      </p:pic>
      <p:sp>
        <p:nvSpPr>
          <p:cNvPr id="195" name="Google Shape;195;p34"/>
          <p:cNvSpPr txBox="1"/>
          <p:nvPr/>
        </p:nvSpPr>
        <p:spPr>
          <a:xfrm>
            <a:off x="-17616" y="1616822"/>
            <a:ext cx="7257600" cy="2831105"/>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a:p>
            <a:pPr indent="0" lvl="0" marL="143930" marR="0" rtl="0" algn="l">
              <a:lnSpc>
                <a:spcPct val="100000"/>
              </a:lnSpc>
              <a:spcBef>
                <a:spcPts val="0"/>
              </a:spcBef>
              <a:spcAft>
                <a:spcPts val="0"/>
              </a:spcAft>
              <a:buClr>
                <a:srgbClr val="000000"/>
              </a:buClr>
              <a:buSzPts val="2133"/>
              <a:buFont typeface="Arial"/>
              <a:buNone/>
            </a:pPr>
            <a:r>
              <a:rPr b="0" i="0" lang="en-US" sz="2133" u="none" cap="none" strike="noStrike">
                <a:solidFill>
                  <a:srgbClr val="000000"/>
                </a:solidFill>
                <a:latin typeface="Times New Roman"/>
                <a:ea typeface="Times New Roman"/>
                <a:cs typeface="Times New Roman"/>
                <a:sym typeface="Times New Roman"/>
              </a:rPr>
              <a:t>Need understand the connection between surface temperature and bottom temperature in the Kuskokwim Bay area, so that we may be able to use remotely-sensed surface temperature to </a:t>
            </a:r>
            <a:r>
              <a:rPr b="1" i="0" lang="en-US" sz="2133" u="none" cap="none" strike="noStrike">
                <a:solidFill>
                  <a:srgbClr val="000000"/>
                </a:solidFill>
                <a:latin typeface="Times New Roman"/>
                <a:ea typeface="Times New Roman"/>
                <a:cs typeface="Times New Roman"/>
                <a:sym typeface="Times New Roman"/>
              </a:rPr>
              <a:t>predict</a:t>
            </a:r>
            <a:r>
              <a:rPr b="0" i="0" lang="en-US" sz="2133" u="none" cap="none" strike="noStrike">
                <a:solidFill>
                  <a:srgbClr val="000000"/>
                </a:solidFill>
                <a:latin typeface="Times New Roman"/>
                <a:ea typeface="Times New Roman"/>
                <a:cs typeface="Times New Roman"/>
                <a:sym typeface="Times New Roman"/>
              </a:rPr>
              <a:t> real-time bottom temperature. </a:t>
            </a:r>
            <a:endParaRPr b="0" i="0" sz="1400" u="none" cap="none" strike="noStrike">
              <a:solidFill>
                <a:srgbClr val="000000"/>
              </a:solidFill>
              <a:latin typeface="Arial"/>
              <a:ea typeface="Arial"/>
              <a:cs typeface="Arial"/>
              <a:sym typeface="Arial"/>
            </a:endParaRPr>
          </a:p>
          <a:p>
            <a:pPr indent="0" lvl="0" marL="143930" marR="0" rtl="0" algn="l">
              <a:lnSpc>
                <a:spcPct val="100000"/>
              </a:lnSpc>
              <a:spcBef>
                <a:spcPts val="0"/>
              </a:spcBef>
              <a:spcAft>
                <a:spcPts val="0"/>
              </a:spcAft>
              <a:buClr>
                <a:srgbClr val="000000"/>
              </a:buClr>
              <a:buSzPts val="2133"/>
              <a:buFont typeface="Arial"/>
              <a:buNone/>
            </a:pPr>
            <a:r>
              <a:t/>
            </a:r>
            <a:endParaRPr b="0" i="0" sz="2133" u="none" cap="none" strike="noStrike">
              <a:solidFill>
                <a:srgbClr val="000000"/>
              </a:solidFill>
              <a:latin typeface="Times New Roman"/>
              <a:ea typeface="Times New Roman"/>
              <a:cs typeface="Times New Roman"/>
              <a:sym typeface="Times New Roman"/>
            </a:endParaRPr>
          </a:p>
          <a:p>
            <a:pPr indent="0" lvl="0" marL="143930" marR="0" rtl="0" algn="l">
              <a:lnSpc>
                <a:spcPct val="100000"/>
              </a:lnSpc>
              <a:spcBef>
                <a:spcPts val="0"/>
              </a:spcBef>
              <a:spcAft>
                <a:spcPts val="0"/>
              </a:spcAft>
              <a:buClr>
                <a:srgbClr val="000000"/>
              </a:buClr>
              <a:buSzPts val="2133"/>
              <a:buFont typeface="Arial"/>
              <a:buNone/>
            </a:pPr>
            <a:r>
              <a:rPr b="0" i="0" lang="en-US" sz="2133" u="none" cap="none" strike="noStrike">
                <a:solidFill>
                  <a:srgbClr val="000000"/>
                </a:solidFill>
                <a:latin typeface="Times New Roman"/>
                <a:ea typeface="Times New Roman"/>
                <a:cs typeface="Times New Roman"/>
                <a:sym typeface="Times New Roman"/>
              </a:rPr>
              <a:t>Partner: PMEL-ECOFOCI (Phyllis Stabeno, Calvin Mordy)</a:t>
            </a:r>
            <a:endParaRPr b="0" i="0" sz="1867" u="none" cap="none" strike="noStrike">
              <a:solidFill>
                <a:srgbClr val="000000"/>
              </a:solidFill>
              <a:latin typeface="Arial"/>
              <a:ea typeface="Arial"/>
              <a:cs typeface="Arial"/>
              <a:sym typeface="Arial"/>
            </a:endParaRPr>
          </a:p>
        </p:txBody>
      </p:sp>
      <p:pic>
        <p:nvPicPr>
          <p:cNvPr id="196" name="Google Shape;196;p34"/>
          <p:cNvPicPr preferRelativeResize="0"/>
          <p:nvPr/>
        </p:nvPicPr>
        <p:blipFill rotWithShape="1">
          <a:blip r:embed="rId5">
            <a:alphaModFix/>
          </a:blip>
          <a:srcRect b="51364" l="21569" r="17528" t="2162"/>
          <a:stretch/>
        </p:blipFill>
        <p:spPr>
          <a:xfrm>
            <a:off x="1043177" y="4442908"/>
            <a:ext cx="4733680" cy="2337232"/>
          </a:xfrm>
          <a:prstGeom prst="rect">
            <a:avLst/>
          </a:prstGeom>
          <a:noFill/>
          <a:ln>
            <a:noFill/>
          </a:ln>
        </p:spPr>
      </p:pic>
      <p:sp>
        <p:nvSpPr>
          <p:cNvPr id="197" name="Google Shape;197;p34"/>
          <p:cNvSpPr/>
          <p:nvPr/>
        </p:nvSpPr>
        <p:spPr>
          <a:xfrm>
            <a:off x="5900911" y="5226018"/>
            <a:ext cx="6096000" cy="1323439"/>
          </a:xfrm>
          <a:prstGeom prst="rect">
            <a:avLst/>
          </a:prstGeom>
          <a:noFill/>
          <a:ln>
            <a:noFill/>
          </a:ln>
        </p:spPr>
        <p:txBody>
          <a:bodyPr anchorCtr="0" anchor="t" bIns="45700" lIns="91425" spcFirstLastPara="1" rIns="91425" wrap="square" tIns="45700">
            <a:spAutoFit/>
          </a:bodyPr>
          <a:lstStyle/>
          <a:p>
            <a:pPr indent="0" lvl="0" marL="143930" marR="0" rtl="0" algn="l">
              <a:lnSpc>
                <a:spcPct val="100000"/>
              </a:lnSpc>
              <a:spcBef>
                <a:spcPts val="0"/>
              </a:spcBef>
              <a:spcAft>
                <a:spcPts val="0"/>
              </a:spcAft>
              <a:buClr>
                <a:srgbClr val="000000"/>
              </a:buClr>
              <a:buSzPts val="2000"/>
              <a:buFont typeface="Arial"/>
              <a:buNone/>
            </a:pPr>
            <a:r>
              <a:rPr b="0" i="1" lang="en-US" sz="2000" u="none" cap="none" strike="noStrike">
                <a:solidFill>
                  <a:srgbClr val="C00000"/>
                </a:solidFill>
                <a:latin typeface="Times New Roman"/>
                <a:ea typeface="Times New Roman"/>
                <a:cs typeface="Times New Roman"/>
                <a:sym typeface="Times New Roman"/>
              </a:rPr>
              <a:t>Predicting these bottom temperatures is difficult!</a:t>
            </a:r>
            <a:endParaRPr b="0" i="0" sz="1400" u="none" cap="none" strike="noStrike">
              <a:solidFill>
                <a:srgbClr val="000000"/>
              </a:solidFill>
              <a:latin typeface="Arial"/>
              <a:ea typeface="Arial"/>
              <a:cs typeface="Arial"/>
              <a:sym typeface="Arial"/>
            </a:endParaRPr>
          </a:p>
          <a:p>
            <a:pPr indent="0" lvl="0" marL="143930" marR="0" rtl="0" algn="l">
              <a:lnSpc>
                <a:spcPct val="100000"/>
              </a:lnSpc>
              <a:spcBef>
                <a:spcPts val="0"/>
              </a:spcBef>
              <a:spcAft>
                <a:spcPts val="0"/>
              </a:spcAft>
              <a:buClr>
                <a:srgbClr val="000000"/>
              </a:buClr>
              <a:buSzPts val="2000"/>
              <a:buFont typeface="Arial"/>
              <a:buNone/>
            </a:pPr>
            <a:r>
              <a:t/>
            </a:r>
            <a:endParaRPr b="0" i="1" sz="2000" u="none" cap="none" strike="noStrike">
              <a:solidFill>
                <a:srgbClr val="C00000"/>
              </a:solidFill>
              <a:latin typeface="Times New Roman"/>
              <a:ea typeface="Times New Roman"/>
              <a:cs typeface="Times New Roman"/>
              <a:sym typeface="Times New Roman"/>
            </a:endParaRPr>
          </a:p>
          <a:p>
            <a:pPr indent="0" lvl="0" marL="143930" marR="0" rtl="0" algn="l">
              <a:lnSpc>
                <a:spcPct val="100000"/>
              </a:lnSpc>
              <a:spcBef>
                <a:spcPts val="0"/>
              </a:spcBef>
              <a:spcAft>
                <a:spcPts val="0"/>
              </a:spcAft>
              <a:buClr>
                <a:srgbClr val="000000"/>
              </a:buClr>
              <a:buSzPts val="2000"/>
              <a:buFont typeface="Arial"/>
              <a:buNone/>
            </a:pPr>
            <a:r>
              <a:rPr b="0" i="1" lang="en-US" sz="2000" u="none" cap="none" strike="noStrike">
                <a:solidFill>
                  <a:srgbClr val="C00000"/>
                </a:solidFill>
                <a:latin typeface="Times New Roman"/>
                <a:ea typeface="Times New Roman"/>
                <a:cs typeface="Times New Roman"/>
                <a:sym typeface="Times New Roman"/>
              </a:rPr>
              <a:t>Measuring bottom temperature with LCP will support fishing industry  </a:t>
            </a:r>
            <a:endParaRPr b="0" i="0" sz="1400" u="none" cap="none" strike="noStrike">
              <a:solidFill>
                <a:srgbClr val="000000"/>
              </a:solidFill>
              <a:latin typeface="Arial"/>
              <a:ea typeface="Arial"/>
              <a:cs typeface="Arial"/>
              <a:sym typeface="Arial"/>
            </a:endParaRPr>
          </a:p>
        </p:txBody>
      </p:sp>
      <p:sp>
        <p:nvSpPr>
          <p:cNvPr id="198" name="Google Shape;198;p34"/>
          <p:cNvSpPr txBox="1"/>
          <p:nvPr/>
        </p:nvSpPr>
        <p:spPr>
          <a:xfrm>
            <a:off x="157316" y="46802"/>
            <a:ext cx="12034684" cy="8764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3087"/>
              </a:buClr>
              <a:buSzPts val="1100"/>
              <a:buFont typeface="PT Serif"/>
              <a:buNone/>
            </a:pPr>
            <a:r>
              <a:rPr b="1" i="1" lang="en-US" sz="3733" u="none" cap="none" strike="noStrike">
                <a:solidFill>
                  <a:srgbClr val="003087"/>
                </a:solidFill>
                <a:latin typeface="PT Serif"/>
                <a:ea typeface="PT Serif"/>
                <a:cs typeface="PT Serif"/>
                <a:sym typeface="PT Serif"/>
              </a:rPr>
              <a:t>LCP: Fisheries Application</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2"/>
          <p:cNvSpPr txBox="1"/>
          <p:nvPr/>
        </p:nvSpPr>
        <p:spPr>
          <a:xfrm>
            <a:off x="54142" y="67130"/>
            <a:ext cx="12083716" cy="1103318"/>
          </a:xfrm>
          <a:prstGeom prst="rect">
            <a:avLst/>
          </a:prstGeom>
          <a:noFill/>
          <a:ln>
            <a:noFill/>
          </a:ln>
        </p:spPr>
        <p:txBody>
          <a:bodyPr anchorCtr="0" anchor="ctr" bIns="45525" lIns="91100" spcFirstLastPara="1" rIns="91100" wrap="square" tIns="45525">
            <a:noAutofit/>
          </a:bodyPr>
          <a:lstStyle/>
          <a:p>
            <a:pPr indent="0" lvl="0" marL="0" marR="0" rtl="0" algn="l">
              <a:lnSpc>
                <a:spcPct val="115000"/>
              </a:lnSpc>
              <a:spcBef>
                <a:spcPts val="0"/>
              </a:spcBef>
              <a:spcAft>
                <a:spcPts val="0"/>
              </a:spcAft>
              <a:buClr>
                <a:srgbClr val="003087"/>
              </a:buClr>
              <a:buSzPts val="2800"/>
              <a:buFont typeface="PT Serif"/>
              <a:buNone/>
            </a:pPr>
            <a:r>
              <a:rPr b="1" i="1" lang="en-US" sz="3750" u="none" cap="none" strike="noStrike">
                <a:solidFill>
                  <a:srgbClr val="003087"/>
                </a:solidFill>
                <a:latin typeface="PT Serif"/>
                <a:ea typeface="PT Serif"/>
                <a:cs typeface="PT Serif"/>
                <a:sym typeface="PT Serif"/>
              </a:rPr>
              <a:t>Low Cost Profiler: Current Status</a:t>
            </a:r>
            <a:endParaRPr b="0" i="0" sz="1400" u="none" cap="none" strike="noStrike">
              <a:solidFill>
                <a:srgbClr val="000000"/>
              </a:solidFill>
              <a:latin typeface="Arial"/>
              <a:ea typeface="Arial"/>
              <a:cs typeface="Arial"/>
              <a:sym typeface="Arial"/>
            </a:endParaRPr>
          </a:p>
        </p:txBody>
      </p:sp>
      <p:sp>
        <p:nvSpPr>
          <p:cNvPr id="204" name="Google Shape;204;p12"/>
          <p:cNvSpPr txBox="1"/>
          <p:nvPr/>
        </p:nvSpPr>
        <p:spPr>
          <a:xfrm>
            <a:off x="258148" y="1010286"/>
            <a:ext cx="5651100" cy="58477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Complete: </a:t>
            </a:r>
            <a:endParaRPr b="0" i="0" sz="2400" u="none" cap="none" strike="noStrike">
              <a:solidFill>
                <a:schemeClr val="dk1"/>
              </a:solidFill>
              <a:latin typeface="Libre Franklin"/>
              <a:ea typeface="Libre Franklin"/>
              <a:cs typeface="Libre Franklin"/>
              <a:sym typeface="Libre Franklin"/>
            </a:endParaRPr>
          </a:p>
          <a:p>
            <a:pPr indent="-381000" lvl="1" marL="9144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mechanical stress testing.</a:t>
            </a:r>
            <a:endParaRPr b="0" i="0" sz="1400" u="none" cap="none" strike="noStrike">
              <a:solidFill>
                <a:srgbClr val="000000"/>
              </a:solidFill>
              <a:latin typeface="Arial"/>
              <a:ea typeface="Arial"/>
              <a:cs typeface="Arial"/>
              <a:sym typeface="Arial"/>
            </a:endParaRPr>
          </a:p>
          <a:p>
            <a:pPr indent="-381000" lvl="1" marL="9144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functional testing in tank.</a:t>
            </a:r>
            <a:endParaRPr b="0" i="0" sz="1400" u="none" cap="none" strike="noStrike">
              <a:solidFill>
                <a:srgbClr val="000000"/>
              </a:solidFill>
              <a:latin typeface="Arial"/>
              <a:ea typeface="Arial"/>
              <a:cs typeface="Arial"/>
              <a:sym typeface="Arial"/>
            </a:endParaRPr>
          </a:p>
          <a:p>
            <a:pPr indent="-381000" lvl="1" marL="9144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Hand-deployed at RL5</a:t>
            </a:r>
            <a:endParaRPr b="0" i="0" sz="1400" u="none" cap="none" strike="noStrike">
              <a:solidFill>
                <a:srgbClr val="000000"/>
              </a:solidFill>
              <a:latin typeface="Arial"/>
              <a:ea typeface="Arial"/>
              <a:cs typeface="Arial"/>
              <a:sym typeface="Arial"/>
            </a:endParaRPr>
          </a:p>
          <a:p>
            <a:pPr indent="-190500" lvl="0" marL="34290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Libre Franklin"/>
              <a:ea typeface="Libre Franklin"/>
              <a:cs typeface="Libre Franklin"/>
              <a:sym typeface="Libre Franklin"/>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Now: </a:t>
            </a:r>
            <a:endParaRPr b="0" i="0" sz="2400" u="none" cap="none" strike="noStrike">
              <a:solidFill>
                <a:schemeClr val="dk1"/>
              </a:solidFill>
              <a:latin typeface="Libre Franklin"/>
              <a:ea typeface="Libre Franklin"/>
              <a:cs typeface="Libre Franklin"/>
              <a:sym typeface="Libre Franklin"/>
            </a:endParaRPr>
          </a:p>
          <a:p>
            <a:pPr indent="-381000" lvl="1" marL="9144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5x field deployments moored in Puget Sound, WA.</a:t>
            </a:r>
            <a:endParaRPr b="0" i="0" sz="1400" u="none" cap="none" strike="noStrike">
              <a:solidFill>
                <a:srgbClr val="000000"/>
              </a:solidFill>
              <a:latin typeface="Arial"/>
              <a:ea typeface="Arial"/>
              <a:cs typeface="Arial"/>
              <a:sym typeface="Arial"/>
            </a:endParaRPr>
          </a:p>
          <a:p>
            <a:pPr indent="-381000" lvl="1" marL="9144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Completed 100 profiles to 170m.</a:t>
            </a:r>
            <a:endParaRPr b="0" i="0" sz="24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Next Steps:</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Secure stage 2 funding</a:t>
            </a:r>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CTD Sensor Integration</a:t>
            </a:r>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Air Deployment- ONR BAA</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Open Source approach</a:t>
            </a:r>
            <a:endParaRPr b="0" i="0" sz="1400" u="none" cap="none" strike="noStrike">
              <a:solidFill>
                <a:srgbClr val="000000"/>
              </a:solidFill>
              <a:latin typeface="Arial"/>
              <a:ea typeface="Arial"/>
              <a:cs typeface="Arial"/>
              <a:sym typeface="Arial"/>
            </a:endParaRPr>
          </a:p>
        </p:txBody>
      </p:sp>
      <p:pic>
        <p:nvPicPr>
          <p:cNvPr id="205" name="Google Shape;205;p12"/>
          <p:cNvPicPr preferRelativeResize="0"/>
          <p:nvPr/>
        </p:nvPicPr>
        <p:blipFill rotWithShape="1">
          <a:blip r:embed="rId3">
            <a:alphaModFix/>
          </a:blip>
          <a:srcRect b="0" l="0" r="31307" t="22468"/>
          <a:stretch/>
        </p:blipFill>
        <p:spPr>
          <a:xfrm rot="5400000">
            <a:off x="7691937" y="545161"/>
            <a:ext cx="4594402" cy="3889427"/>
          </a:xfrm>
          <a:prstGeom prst="rect">
            <a:avLst/>
          </a:prstGeom>
          <a:noFill/>
          <a:ln>
            <a:noFill/>
          </a:ln>
        </p:spPr>
      </p:pic>
      <p:pic>
        <p:nvPicPr>
          <p:cNvPr id="206" name="Google Shape;206;p12"/>
          <p:cNvPicPr preferRelativeResize="0"/>
          <p:nvPr/>
        </p:nvPicPr>
        <p:blipFill rotWithShape="1">
          <a:blip r:embed="rId4">
            <a:alphaModFix/>
          </a:blip>
          <a:srcRect b="0" l="0" r="0" t="0"/>
          <a:stretch/>
        </p:blipFill>
        <p:spPr>
          <a:xfrm>
            <a:off x="5270112" y="3724973"/>
            <a:ext cx="6749800" cy="3014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9"/>
          <p:cNvSpPr txBox="1"/>
          <p:nvPr>
            <p:ph type="title"/>
          </p:nvPr>
        </p:nvSpPr>
        <p:spPr>
          <a:xfrm>
            <a:off x="1371600" y="1005827"/>
            <a:ext cx="9601200" cy="519056"/>
          </a:xfrm>
          <a:prstGeom prst="rect">
            <a:avLst/>
          </a:prstGeom>
          <a:noFill/>
          <a:ln>
            <a:noFill/>
          </a:ln>
        </p:spPr>
        <p:txBody>
          <a:bodyPr anchorCtr="0" anchor="t" bIns="45700" lIns="91425" spcFirstLastPara="1" rIns="91425" wrap="square" tIns="45700">
            <a:normAutofit/>
          </a:bodyPr>
          <a:lstStyle/>
          <a:p>
            <a:pPr indent="0" lvl="0" marL="0" marR="0" rtl="0" algn="l">
              <a:lnSpc>
                <a:spcPct val="89000"/>
              </a:lnSpc>
              <a:spcBef>
                <a:spcPts val="0"/>
              </a:spcBef>
              <a:spcAft>
                <a:spcPts val="0"/>
              </a:spcAft>
              <a:buClr>
                <a:schemeClr val="dk2"/>
              </a:buClr>
              <a:buSzPts val="4400"/>
              <a:buFont typeface="Libre Franklin"/>
              <a:buNone/>
            </a:pPr>
            <a:r>
              <a:rPr lang="en-US">
                <a:latin typeface="Times New Roman"/>
                <a:ea typeface="Times New Roman"/>
                <a:cs typeface="Times New Roman"/>
                <a:sym typeface="Times New Roman"/>
              </a:rPr>
              <a:t>LCP expands work in the Beaufort Sea</a:t>
            </a:r>
            <a:endParaRPr/>
          </a:p>
        </p:txBody>
      </p:sp>
      <p:sp>
        <p:nvSpPr>
          <p:cNvPr id="213" name="Google Shape;213;p39"/>
          <p:cNvSpPr txBox="1"/>
          <p:nvPr>
            <p:ph idx="1" type="body"/>
          </p:nvPr>
        </p:nvSpPr>
        <p:spPr>
          <a:xfrm>
            <a:off x="1371600" y="1572479"/>
            <a:ext cx="9601200" cy="1400261"/>
          </a:xfrm>
          <a:prstGeom prst="rect">
            <a:avLst/>
          </a:prstGeom>
          <a:noFill/>
          <a:ln>
            <a:noFill/>
          </a:ln>
        </p:spPr>
        <p:txBody>
          <a:bodyPr anchorCtr="0" anchor="t" bIns="45700" lIns="91425" spcFirstLastPara="1" rIns="91425" wrap="square" tIns="45700">
            <a:normAutofit fontScale="85000" lnSpcReduction="20000"/>
          </a:bodyPr>
          <a:lstStyle/>
          <a:p>
            <a:pPr indent="-355600" lvl="0" marL="457200" rtl="0" algn="l">
              <a:lnSpc>
                <a:spcPct val="114000"/>
              </a:lnSpc>
              <a:spcBef>
                <a:spcPts val="1000"/>
              </a:spcBef>
              <a:spcAft>
                <a:spcPts val="0"/>
              </a:spcAft>
              <a:buSzPct val="117647"/>
              <a:buFont typeface="Arial"/>
              <a:buChar char="•"/>
            </a:pPr>
            <a:r>
              <a:rPr lang="en-US">
                <a:latin typeface="Times New Roman"/>
                <a:ea typeface="Times New Roman"/>
                <a:cs typeface="Times New Roman"/>
                <a:sym typeface="Times New Roman"/>
              </a:rPr>
              <a:t>Arctic AIR (Jiaxu Zhang, UW-CICOES) focuses on stratification mechanisms in the southern Beaufort Sea and their impact on sea ice formation/melt and phytoplankton growth. </a:t>
            </a:r>
            <a:endParaRPr/>
          </a:p>
          <a:p>
            <a:pPr indent="-355600" lvl="0" marL="457200" rtl="0" algn="l">
              <a:lnSpc>
                <a:spcPct val="114000"/>
              </a:lnSpc>
              <a:spcBef>
                <a:spcPts val="1000"/>
              </a:spcBef>
              <a:spcAft>
                <a:spcPts val="0"/>
              </a:spcAft>
              <a:buSzPct val="112044"/>
              <a:buFont typeface="Arial"/>
              <a:buChar char="•"/>
            </a:pPr>
            <a:r>
              <a:rPr lang="en-US" sz="2100">
                <a:latin typeface="Times New Roman"/>
                <a:ea typeface="Times New Roman"/>
                <a:cs typeface="Times New Roman"/>
                <a:sym typeface="Times New Roman"/>
              </a:rPr>
              <a:t>Previously, we relied on AxCTDs and ALAMO floats for this data, but LCP offers a more cost-effective alternative for measuring salinity-driven stratification.</a:t>
            </a:r>
            <a:endParaRPr/>
          </a:p>
        </p:txBody>
      </p:sp>
      <p:grpSp>
        <p:nvGrpSpPr>
          <p:cNvPr id="214" name="Google Shape;214;p39"/>
          <p:cNvGrpSpPr/>
          <p:nvPr/>
        </p:nvGrpSpPr>
        <p:grpSpPr>
          <a:xfrm>
            <a:off x="1811756" y="3067930"/>
            <a:ext cx="4026665" cy="3342195"/>
            <a:chOff x="1371600" y="3036035"/>
            <a:chExt cx="3194795" cy="2651730"/>
          </a:xfrm>
        </p:grpSpPr>
        <p:pic>
          <p:nvPicPr>
            <p:cNvPr id="215" name="Google Shape;215;p39"/>
            <p:cNvPicPr preferRelativeResize="0"/>
            <p:nvPr/>
          </p:nvPicPr>
          <p:blipFill rotWithShape="1">
            <a:blip r:embed="rId3">
              <a:alphaModFix/>
            </a:blip>
            <a:srcRect b="0" l="0" r="0" t="0"/>
            <a:stretch/>
          </p:blipFill>
          <p:spPr>
            <a:xfrm>
              <a:off x="2920312" y="3036037"/>
              <a:ext cx="1646083" cy="2651728"/>
            </a:xfrm>
            <a:prstGeom prst="rect">
              <a:avLst/>
            </a:prstGeom>
            <a:noFill/>
            <a:ln>
              <a:noFill/>
            </a:ln>
          </p:spPr>
        </p:pic>
        <p:pic>
          <p:nvPicPr>
            <p:cNvPr id="216" name="Google Shape;216;p39"/>
            <p:cNvPicPr preferRelativeResize="0"/>
            <p:nvPr/>
          </p:nvPicPr>
          <p:blipFill rotWithShape="1">
            <a:blip r:embed="rId4">
              <a:alphaModFix/>
            </a:blip>
            <a:srcRect b="0" l="0" r="0" t="0"/>
            <a:stretch/>
          </p:blipFill>
          <p:spPr>
            <a:xfrm>
              <a:off x="1371600" y="3036035"/>
              <a:ext cx="1493627" cy="2651729"/>
            </a:xfrm>
            <a:prstGeom prst="rect">
              <a:avLst/>
            </a:prstGeom>
            <a:noFill/>
            <a:ln>
              <a:noFill/>
            </a:ln>
          </p:spPr>
        </p:pic>
      </p:grpSp>
      <p:sp>
        <p:nvSpPr>
          <p:cNvPr id="217" name="Google Shape;217;p39"/>
          <p:cNvSpPr txBox="1"/>
          <p:nvPr/>
        </p:nvSpPr>
        <p:spPr>
          <a:xfrm>
            <a:off x="2291612" y="6408333"/>
            <a:ext cx="310052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2024 AxBT deployment along 150W </a:t>
            </a:r>
            <a:endParaRPr b="0" i="0" sz="1400" u="none" cap="none" strike="noStrike">
              <a:solidFill>
                <a:srgbClr val="000000"/>
              </a:solidFill>
              <a:latin typeface="Arial"/>
              <a:ea typeface="Arial"/>
              <a:cs typeface="Arial"/>
              <a:sym typeface="Arial"/>
            </a:endParaRPr>
          </a:p>
        </p:txBody>
      </p:sp>
      <p:pic>
        <p:nvPicPr>
          <p:cNvPr id="218" name="Google Shape;218;p39"/>
          <p:cNvPicPr preferRelativeResize="0"/>
          <p:nvPr/>
        </p:nvPicPr>
        <p:blipFill rotWithShape="1">
          <a:blip r:embed="rId5">
            <a:alphaModFix/>
          </a:blip>
          <a:srcRect b="0" l="0" r="0" t="0"/>
          <a:stretch/>
        </p:blipFill>
        <p:spPr>
          <a:xfrm>
            <a:off x="7083805" y="3067930"/>
            <a:ext cx="2402935" cy="3340403"/>
          </a:xfrm>
          <a:prstGeom prst="rect">
            <a:avLst/>
          </a:prstGeom>
          <a:noFill/>
          <a:ln>
            <a:noFill/>
          </a:ln>
        </p:spPr>
      </p:pic>
      <p:sp>
        <p:nvSpPr>
          <p:cNvPr id="219" name="Google Shape;219;p39"/>
          <p:cNvSpPr txBox="1"/>
          <p:nvPr/>
        </p:nvSpPr>
        <p:spPr>
          <a:xfrm>
            <a:off x="6735007" y="6437856"/>
            <a:ext cx="342914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An ALAMO drifting down from Twin Otter</a:t>
            </a:r>
            <a:endParaRPr b="0" i="0" sz="1400" u="none" cap="none" strike="noStrike">
              <a:solidFill>
                <a:srgbClr val="000000"/>
              </a:solidFill>
              <a:latin typeface="Arial"/>
              <a:ea typeface="Arial"/>
              <a:cs typeface="Arial"/>
              <a:sym typeface="Arial"/>
            </a:endParaRPr>
          </a:p>
        </p:txBody>
      </p:sp>
      <p:sp>
        <p:nvSpPr>
          <p:cNvPr id="220" name="Google Shape;220;p39"/>
          <p:cNvSpPr txBox="1"/>
          <p:nvPr/>
        </p:nvSpPr>
        <p:spPr>
          <a:xfrm>
            <a:off x="781259" y="33650"/>
            <a:ext cx="12034684" cy="8764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3087"/>
              </a:buClr>
              <a:buSzPts val="1100"/>
              <a:buFont typeface="PT Serif"/>
              <a:buNone/>
            </a:pPr>
            <a:r>
              <a:rPr b="1" i="1" lang="en-US" sz="3733" u="none" cap="none" strike="noStrike">
                <a:solidFill>
                  <a:srgbClr val="003087"/>
                </a:solidFill>
                <a:latin typeface="PT Serif"/>
                <a:ea typeface="PT Serif"/>
                <a:cs typeface="PT Serif"/>
                <a:sym typeface="PT Serif"/>
              </a:rPr>
              <a:t>LCP: Arctic Sea Ice Application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36"/>
          <p:cNvPicPr preferRelativeResize="0"/>
          <p:nvPr/>
        </p:nvPicPr>
        <p:blipFill rotWithShape="1">
          <a:blip r:embed="rId3">
            <a:alphaModFix/>
          </a:blip>
          <a:srcRect b="0" l="0" r="0" t="0"/>
          <a:stretch/>
        </p:blipFill>
        <p:spPr>
          <a:xfrm>
            <a:off x="2524382" y="1331220"/>
            <a:ext cx="6662569" cy="2109906"/>
          </a:xfrm>
          <a:prstGeom prst="rect">
            <a:avLst/>
          </a:prstGeom>
          <a:noFill/>
          <a:ln>
            <a:noFill/>
          </a:ln>
        </p:spPr>
      </p:pic>
      <p:sp>
        <p:nvSpPr>
          <p:cNvPr id="226" name="Google Shape;226;p36"/>
          <p:cNvSpPr txBox="1"/>
          <p:nvPr/>
        </p:nvSpPr>
        <p:spPr>
          <a:xfrm>
            <a:off x="-157123" y="738158"/>
            <a:ext cx="12192000" cy="947138"/>
          </a:xfrm>
          <a:prstGeom prst="rect">
            <a:avLst/>
          </a:prstGeom>
          <a:noFill/>
          <a:ln>
            <a:noFill/>
          </a:ln>
        </p:spPr>
        <p:txBody>
          <a:bodyPr anchorCtr="0" anchor="t"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00000"/>
                </a:solidFill>
                <a:latin typeface="Times New Roman"/>
                <a:ea typeface="Times New Roman"/>
                <a:cs typeface="Times New Roman"/>
                <a:sym typeface="Times New Roman"/>
              </a:rPr>
              <a:t>Societal implications of ocean change ≠ capacity of ocean technology development community</a:t>
            </a:r>
            <a:endParaRPr b="0" i="0" sz="2000" u="none" cap="none" strike="noStrike">
              <a:solidFill>
                <a:srgbClr val="C00000"/>
              </a:solidFill>
              <a:latin typeface="Times New Roman"/>
              <a:ea typeface="Times New Roman"/>
              <a:cs typeface="Times New Roman"/>
              <a:sym typeface="Times New Roman"/>
            </a:endParaRPr>
          </a:p>
        </p:txBody>
      </p:sp>
      <p:pic>
        <p:nvPicPr>
          <p:cNvPr id="227" name="Google Shape;227;p36"/>
          <p:cNvPicPr preferRelativeResize="0"/>
          <p:nvPr/>
        </p:nvPicPr>
        <p:blipFill rotWithShape="1">
          <a:blip r:embed="rId4">
            <a:alphaModFix/>
          </a:blip>
          <a:srcRect b="0" l="0" r="0" t="0"/>
          <a:stretch/>
        </p:blipFill>
        <p:spPr>
          <a:xfrm>
            <a:off x="6817390" y="4320628"/>
            <a:ext cx="4905544" cy="1937484"/>
          </a:xfrm>
          <a:prstGeom prst="rect">
            <a:avLst/>
          </a:prstGeom>
          <a:noFill/>
          <a:ln>
            <a:noFill/>
          </a:ln>
        </p:spPr>
      </p:pic>
      <p:sp>
        <p:nvSpPr>
          <p:cNvPr id="228" name="Google Shape;228;p36"/>
          <p:cNvSpPr txBox="1"/>
          <p:nvPr/>
        </p:nvSpPr>
        <p:spPr>
          <a:xfrm>
            <a:off x="0" y="212463"/>
            <a:ext cx="11711334" cy="7492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3087"/>
              </a:buClr>
              <a:buSzPts val="3750"/>
              <a:buFont typeface="PT Serif"/>
              <a:buNone/>
            </a:pPr>
            <a:r>
              <a:rPr b="1" i="1" lang="en-US" sz="3750" u="none" cap="none" strike="noStrike">
                <a:solidFill>
                  <a:srgbClr val="003087"/>
                </a:solidFill>
                <a:latin typeface="PT Serif"/>
                <a:ea typeface="PT Serif"/>
                <a:cs typeface="PT Serif"/>
                <a:sym typeface="PT Serif"/>
              </a:rPr>
              <a:t>Open Source Solution:</a:t>
            </a:r>
            <a:endParaRPr b="0" i="0" sz="1400" u="none" cap="none" strike="noStrike">
              <a:solidFill>
                <a:srgbClr val="000000"/>
              </a:solidFill>
              <a:latin typeface="Arial"/>
              <a:ea typeface="Arial"/>
              <a:cs typeface="Arial"/>
              <a:sym typeface="Arial"/>
            </a:endParaRPr>
          </a:p>
          <a:p>
            <a:pPr indent="0" lvl="0" marL="0" marR="0" rtl="0" algn="ctr">
              <a:lnSpc>
                <a:spcPct val="89000"/>
              </a:lnSpc>
              <a:spcBef>
                <a:spcPts val="0"/>
              </a:spcBef>
              <a:spcAft>
                <a:spcPts val="0"/>
              </a:spcAft>
              <a:buClr>
                <a:schemeClr val="dk1"/>
              </a:buClr>
              <a:buSzPts val="2500"/>
              <a:buFont typeface="Calibri"/>
              <a:buNone/>
            </a:pPr>
            <a:r>
              <a:t/>
            </a:r>
            <a:endParaRPr b="1" i="1" sz="3750" u="none" cap="none" strike="noStrike">
              <a:solidFill>
                <a:srgbClr val="003087"/>
              </a:solidFill>
              <a:latin typeface="PT Serif"/>
              <a:ea typeface="PT Serif"/>
              <a:cs typeface="PT Serif"/>
              <a:sym typeface="PT Serif"/>
            </a:endParaRPr>
          </a:p>
        </p:txBody>
      </p:sp>
      <p:sp>
        <p:nvSpPr>
          <p:cNvPr id="229" name="Google Shape;229;p36"/>
          <p:cNvSpPr txBox="1"/>
          <p:nvPr/>
        </p:nvSpPr>
        <p:spPr>
          <a:xfrm>
            <a:off x="322896" y="3950562"/>
            <a:ext cx="6446364" cy="2677616"/>
          </a:xfrm>
          <a:prstGeom prst="rect">
            <a:avLst/>
          </a:prstGeom>
          <a:noFill/>
          <a:ln>
            <a:noFill/>
          </a:ln>
        </p:spPr>
        <p:txBody>
          <a:bodyPr anchorCtr="0" anchor="t" bIns="45700" lIns="91425" spcFirstLastPara="1" rIns="91425" wrap="square" tIns="45700">
            <a:spAutoFit/>
          </a:bodyPr>
          <a:lstStyle/>
          <a:p>
            <a:pPr indent="-342900" lvl="3"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Use: Provide truly low-cost tool</a:t>
            </a:r>
            <a:endParaRPr/>
          </a:p>
          <a:p>
            <a:pPr indent="-190500" lvl="0" marL="34290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Libre Franklin"/>
              <a:ea typeface="Libre Franklin"/>
              <a:cs typeface="Libre Franklin"/>
              <a:sym typeface="Libre Franklin"/>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Scale: Contract manufacturer approach to building in quantities</a:t>
            </a:r>
            <a:endParaRPr/>
          </a:p>
          <a:p>
            <a:pPr indent="0" lvl="0" marL="0" marR="0" rtl="0" algn="l">
              <a:lnSpc>
                <a:spcPct val="100000"/>
              </a:lnSpc>
              <a:spcBef>
                <a:spcPts val="0"/>
              </a:spcBef>
              <a:spcAft>
                <a:spcPts val="0"/>
              </a:spcAft>
              <a:buNone/>
            </a:pPr>
            <a:r>
              <a:rPr b="0" i="0" lang="en-US" sz="2400" u="none" cap="none" strike="noStrike">
                <a:solidFill>
                  <a:schemeClr val="dk1"/>
                </a:solidFill>
                <a:latin typeface="Libre Franklin"/>
                <a:ea typeface="Libre Franklin"/>
                <a:cs typeface="Libre Franklin"/>
                <a:sym typeface="Libre Franklin"/>
              </a:rPr>
              <a:t> </a:t>
            </a:r>
            <a:endParaRPr b="0" i="0" sz="2400" u="none" cap="none" strike="noStrike">
              <a:solidFill>
                <a:schemeClr val="dk1"/>
              </a:solidFill>
              <a:latin typeface="Libre Franklin"/>
              <a:ea typeface="Libre Franklin"/>
              <a:cs typeface="Libre Franklin"/>
              <a:sym typeface="Libre Franklin"/>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Sustain:  Industry and users can assist in system upgrades, sensor integration…..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16"/>
          <p:cNvPicPr preferRelativeResize="0"/>
          <p:nvPr/>
        </p:nvPicPr>
        <p:blipFill rotWithShape="1">
          <a:blip r:embed="rId3">
            <a:alphaModFix/>
          </a:blip>
          <a:srcRect b="16542" l="12587" r="12880" t="31490"/>
          <a:stretch/>
        </p:blipFill>
        <p:spPr>
          <a:xfrm>
            <a:off x="-198440" y="1"/>
            <a:ext cx="13114966" cy="6858000"/>
          </a:xfrm>
          <a:prstGeom prst="rect">
            <a:avLst/>
          </a:prstGeom>
          <a:noFill/>
          <a:ln>
            <a:noFill/>
          </a:ln>
        </p:spPr>
      </p:pic>
      <p:sp>
        <p:nvSpPr>
          <p:cNvPr id="236" name="Google Shape;236;p16"/>
          <p:cNvSpPr txBox="1"/>
          <p:nvPr/>
        </p:nvSpPr>
        <p:spPr>
          <a:xfrm>
            <a:off x="-198440" y="2129742"/>
            <a:ext cx="13114966"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US" sz="7200" u="none" cap="none" strike="noStrike">
                <a:solidFill>
                  <a:srgbClr val="000000"/>
                </a:solidFill>
                <a:latin typeface="Libre Franklin"/>
                <a:ea typeface="Libre Franklin"/>
                <a:cs typeface="Libre Franklin"/>
                <a:sym typeface="Libre Franklin"/>
              </a:rPr>
              <a:t>Thank You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10"/>
          <p:cNvPicPr preferRelativeResize="0"/>
          <p:nvPr/>
        </p:nvPicPr>
        <p:blipFill rotWithShape="1">
          <a:blip r:embed="rId3">
            <a:alphaModFix/>
          </a:blip>
          <a:srcRect b="0" l="0" r="0" t="0"/>
          <a:stretch/>
        </p:blipFill>
        <p:spPr>
          <a:xfrm rot="1512804">
            <a:off x="-1604042" y="-3263803"/>
            <a:ext cx="12303046" cy="9506898"/>
          </a:xfrm>
          <a:prstGeom prst="rect">
            <a:avLst/>
          </a:prstGeom>
          <a:noFill/>
          <a:ln>
            <a:noFill/>
          </a:ln>
        </p:spPr>
      </p:pic>
      <p:sp>
        <p:nvSpPr>
          <p:cNvPr id="242" name="Google Shape;242;p10"/>
          <p:cNvSpPr txBox="1"/>
          <p:nvPr/>
        </p:nvSpPr>
        <p:spPr>
          <a:xfrm>
            <a:off x="54142" y="67130"/>
            <a:ext cx="12083716" cy="1103318"/>
          </a:xfrm>
          <a:prstGeom prst="rect">
            <a:avLst/>
          </a:prstGeom>
          <a:noFill/>
          <a:ln>
            <a:noFill/>
          </a:ln>
        </p:spPr>
        <p:txBody>
          <a:bodyPr anchorCtr="0" anchor="ctr" bIns="45525" lIns="91100" spcFirstLastPara="1" rIns="91100" wrap="square" tIns="45525">
            <a:noAutofit/>
          </a:bodyPr>
          <a:lstStyle/>
          <a:p>
            <a:pPr indent="0" lvl="0" marL="0" marR="0" rtl="0" algn="l">
              <a:lnSpc>
                <a:spcPct val="115000"/>
              </a:lnSpc>
              <a:spcBef>
                <a:spcPts val="0"/>
              </a:spcBef>
              <a:spcAft>
                <a:spcPts val="0"/>
              </a:spcAft>
              <a:buClr>
                <a:srgbClr val="003087"/>
              </a:buClr>
              <a:buSzPts val="2800"/>
              <a:buFont typeface="PT Serif"/>
              <a:buNone/>
            </a:pPr>
            <a:r>
              <a:rPr b="1" i="1" lang="en-US" sz="3750" u="none" cap="none" strike="noStrike">
                <a:solidFill>
                  <a:srgbClr val="003087"/>
                </a:solidFill>
                <a:latin typeface="PT Serif"/>
                <a:ea typeface="PT Serif"/>
                <a:cs typeface="PT Serif"/>
                <a:sym typeface="PT Serif"/>
              </a:rPr>
              <a:t>Low Cost Profiler (LCP): Design</a:t>
            </a:r>
            <a:endParaRPr b="0" i="0" sz="1400" u="none" cap="none" strike="noStrike">
              <a:solidFill>
                <a:srgbClr val="000000"/>
              </a:solidFill>
              <a:latin typeface="Arial"/>
              <a:ea typeface="Arial"/>
              <a:cs typeface="Arial"/>
              <a:sym typeface="Arial"/>
            </a:endParaRPr>
          </a:p>
        </p:txBody>
      </p:sp>
      <p:sp>
        <p:nvSpPr>
          <p:cNvPr id="243" name="Google Shape;243;p10"/>
          <p:cNvSpPr txBox="1"/>
          <p:nvPr/>
        </p:nvSpPr>
        <p:spPr>
          <a:xfrm>
            <a:off x="236817" y="3429000"/>
            <a:ext cx="5651126" cy="193899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Simple direct drive buoyancy engine</a:t>
            </a:r>
            <a:endParaRPr b="0" i="0" sz="1400" u="none" cap="none" strike="noStrike">
              <a:solidFill>
                <a:srgbClr val="000000"/>
              </a:solidFill>
              <a:latin typeface="Arial"/>
              <a:ea typeface="Arial"/>
              <a:cs typeface="Arial"/>
              <a:sym typeface="Arial"/>
            </a:endParaRPr>
          </a:p>
          <a:p>
            <a:pPr indent="-190500" lvl="0" marL="34290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Libre Franklin"/>
              <a:ea typeface="Libre Franklin"/>
              <a:cs typeface="Libre Franklin"/>
              <a:sym typeface="Libre Franklin"/>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Maximizes OEM components</a:t>
            </a:r>
            <a:endParaRPr b="0" i="0" sz="1400" u="none" cap="none" strike="noStrike">
              <a:solidFill>
                <a:srgbClr val="000000"/>
              </a:solidFill>
              <a:latin typeface="Arial"/>
              <a:ea typeface="Arial"/>
              <a:cs typeface="Arial"/>
              <a:sym typeface="Arial"/>
            </a:endParaRPr>
          </a:p>
          <a:p>
            <a:pPr indent="-190500" lvl="0" marL="34290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Libre Franklin"/>
              <a:ea typeface="Libre Franklin"/>
              <a:cs typeface="Libre Franklin"/>
              <a:sym typeface="Libre Franklin"/>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Minimizes custom components</a:t>
            </a:r>
            <a:endParaRPr b="0" i="0" sz="1400" u="none" cap="none" strike="noStrike">
              <a:solidFill>
                <a:srgbClr val="000000"/>
              </a:solidFill>
              <a:latin typeface="Arial"/>
              <a:ea typeface="Arial"/>
              <a:cs typeface="Arial"/>
              <a:sym typeface="Arial"/>
            </a:endParaRPr>
          </a:p>
        </p:txBody>
      </p:sp>
      <p:pic>
        <p:nvPicPr>
          <p:cNvPr id="244" name="Google Shape;244;p10"/>
          <p:cNvPicPr preferRelativeResize="0"/>
          <p:nvPr/>
        </p:nvPicPr>
        <p:blipFill rotWithShape="1">
          <a:blip r:embed="rId4">
            <a:alphaModFix/>
          </a:blip>
          <a:srcRect b="0" l="0" r="4090" t="8477"/>
          <a:stretch/>
        </p:blipFill>
        <p:spPr>
          <a:xfrm>
            <a:off x="5887957" y="2333315"/>
            <a:ext cx="6228152" cy="445755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Details are in the caption following the image" id="250" name="Google Shape;250;p37"/>
          <p:cNvPicPr preferRelativeResize="0"/>
          <p:nvPr/>
        </p:nvPicPr>
        <p:blipFill rotWithShape="1">
          <a:blip r:embed="rId3">
            <a:alphaModFix/>
          </a:blip>
          <a:srcRect b="0" l="36265" r="0" t="0"/>
          <a:stretch/>
        </p:blipFill>
        <p:spPr>
          <a:xfrm>
            <a:off x="4707924" y="0"/>
            <a:ext cx="6441089" cy="6858000"/>
          </a:xfrm>
          <a:prstGeom prst="rect">
            <a:avLst/>
          </a:prstGeom>
          <a:noFill/>
          <a:ln>
            <a:noFill/>
          </a:ln>
        </p:spPr>
      </p:pic>
      <p:sp>
        <p:nvSpPr>
          <p:cNvPr id="251" name="Google Shape;251;p37"/>
          <p:cNvSpPr txBox="1"/>
          <p:nvPr/>
        </p:nvSpPr>
        <p:spPr>
          <a:xfrm>
            <a:off x="2644344" y="6342105"/>
            <a:ext cx="323747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Sanabia and Jayne (2020)</a:t>
            </a:r>
            <a:endParaRPr b="0" i="0" sz="1400" u="none" cap="none" strike="noStrike">
              <a:solidFill>
                <a:srgbClr val="000000"/>
              </a:solidFill>
              <a:latin typeface="Arial"/>
              <a:ea typeface="Arial"/>
              <a:cs typeface="Arial"/>
              <a:sym typeface="Arial"/>
            </a:endParaRPr>
          </a:p>
        </p:txBody>
      </p:sp>
      <p:pic>
        <p:nvPicPr>
          <p:cNvPr descr="AOML Tests New Hurricane Ocean Profilers for Deployment in 2021 Hurricane  Season - NOAA/AOML" id="252" name="Google Shape;252;p37"/>
          <p:cNvPicPr preferRelativeResize="0"/>
          <p:nvPr/>
        </p:nvPicPr>
        <p:blipFill rotWithShape="1">
          <a:blip r:embed="rId4">
            <a:alphaModFix/>
          </a:blip>
          <a:srcRect b="0" l="0" r="0" t="0"/>
          <a:stretch/>
        </p:blipFill>
        <p:spPr>
          <a:xfrm>
            <a:off x="1914053" y="4711838"/>
            <a:ext cx="2633231" cy="1483704"/>
          </a:xfrm>
          <a:prstGeom prst="rect">
            <a:avLst/>
          </a:prstGeom>
          <a:noFill/>
          <a:ln>
            <a:noFill/>
          </a:ln>
        </p:spPr>
      </p:pic>
      <p:sp>
        <p:nvSpPr>
          <p:cNvPr id="253" name="Google Shape;253;p37"/>
          <p:cNvSpPr txBox="1"/>
          <p:nvPr/>
        </p:nvSpPr>
        <p:spPr>
          <a:xfrm>
            <a:off x="457200" y="420130"/>
            <a:ext cx="3991232" cy="455509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Arial"/>
                <a:ea typeface="Arial"/>
                <a:cs typeface="Arial"/>
                <a:sym typeface="Arial"/>
              </a:rPr>
              <a:t>ALAMO floats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Deployed ahead of hurricanes by aircraft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Can profile every 2 hours to 300 m for several months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Expensive: ~$400K for 16 floats deployed ahead of Hurricanes Irma and Florence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descr="NOAA Measures Hurricane Tammy from Satellites through the Sea" id="258" name="Google Shape;258;p3"/>
          <p:cNvPicPr preferRelativeResize="0"/>
          <p:nvPr/>
        </p:nvPicPr>
        <p:blipFill rotWithShape="1">
          <a:blip r:embed="rId3">
            <a:alphaModFix/>
          </a:blip>
          <a:srcRect b="0" l="0" r="0" t="0"/>
          <a:stretch/>
        </p:blipFill>
        <p:spPr>
          <a:xfrm>
            <a:off x="5616918" y="2619632"/>
            <a:ext cx="1637442" cy="4065373"/>
          </a:xfrm>
          <a:prstGeom prst="rect">
            <a:avLst/>
          </a:prstGeom>
          <a:noFill/>
          <a:ln>
            <a:noFill/>
          </a:ln>
        </p:spPr>
      </p:pic>
      <p:pic>
        <p:nvPicPr>
          <p:cNvPr descr="Images showing an AXBT instrument and how the instrument is launched." id="259" name="Google Shape;259;p3"/>
          <p:cNvPicPr preferRelativeResize="0"/>
          <p:nvPr/>
        </p:nvPicPr>
        <p:blipFill rotWithShape="1">
          <a:blip r:embed="rId4">
            <a:alphaModFix/>
          </a:blip>
          <a:srcRect b="0" l="52601" r="0" t="0"/>
          <a:stretch/>
        </p:blipFill>
        <p:spPr>
          <a:xfrm>
            <a:off x="7698260" y="417427"/>
            <a:ext cx="3799016" cy="6023146"/>
          </a:xfrm>
          <a:prstGeom prst="rect">
            <a:avLst/>
          </a:prstGeom>
          <a:noFill/>
          <a:ln>
            <a:noFill/>
          </a:ln>
        </p:spPr>
      </p:pic>
      <p:sp>
        <p:nvSpPr>
          <p:cNvPr id="260" name="Google Shape;260;p3"/>
          <p:cNvSpPr txBox="1"/>
          <p:nvPr/>
        </p:nvSpPr>
        <p:spPr>
          <a:xfrm>
            <a:off x="8106030" y="6440573"/>
            <a:ext cx="323747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Credit: U.S. Coast Guard</a:t>
            </a:r>
            <a:endParaRPr b="0" i="0" sz="1400" u="none" cap="none" strike="noStrike">
              <a:solidFill>
                <a:srgbClr val="000000"/>
              </a:solidFill>
              <a:latin typeface="Arial"/>
              <a:ea typeface="Arial"/>
              <a:cs typeface="Arial"/>
              <a:sym typeface="Arial"/>
            </a:endParaRPr>
          </a:p>
        </p:txBody>
      </p:sp>
      <p:sp>
        <p:nvSpPr>
          <p:cNvPr id="261" name="Google Shape;261;p3"/>
          <p:cNvSpPr txBox="1"/>
          <p:nvPr/>
        </p:nvSpPr>
        <p:spPr>
          <a:xfrm>
            <a:off x="457200" y="420130"/>
            <a:ext cx="5066400" cy="5233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Arial"/>
                <a:ea typeface="Arial"/>
                <a:cs typeface="Arial"/>
                <a:sym typeface="Arial"/>
              </a:rPr>
              <a:t>AXBTs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Deployed ahead of hurricanes by aircraft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Floats on surface, releases thermistor probe that measures temperature as it drops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Less expensive (~$1000) but only gives one temperature profile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AXCTDs also measure salinity but are more expensive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8"/>
          <p:cNvSpPr txBox="1"/>
          <p:nvPr>
            <p:ph type="title"/>
          </p:nvPr>
        </p:nvSpPr>
        <p:spPr>
          <a:xfrm>
            <a:off x="1134932" y="994409"/>
            <a:ext cx="9601200" cy="519056"/>
          </a:xfrm>
          <a:prstGeom prst="rect">
            <a:avLst/>
          </a:prstGeom>
          <a:noFill/>
          <a:ln>
            <a:noFill/>
          </a:ln>
        </p:spPr>
        <p:txBody>
          <a:bodyPr anchorCtr="0" anchor="t" bIns="45700" lIns="91425" spcFirstLastPara="1" rIns="91425" wrap="square" tIns="45700">
            <a:normAutofit/>
          </a:bodyPr>
          <a:lstStyle/>
          <a:p>
            <a:pPr indent="0" lvl="0" marL="0" marR="0" rtl="0" algn="l">
              <a:lnSpc>
                <a:spcPct val="89000"/>
              </a:lnSpc>
              <a:spcBef>
                <a:spcPts val="0"/>
              </a:spcBef>
              <a:spcAft>
                <a:spcPts val="0"/>
              </a:spcAft>
              <a:buClr>
                <a:schemeClr val="dk2"/>
              </a:buClr>
              <a:buSzPts val="4400"/>
              <a:buFont typeface="Libre Franklin"/>
              <a:buNone/>
            </a:pPr>
            <a:r>
              <a:rPr lang="en-US">
                <a:latin typeface="Times New Roman"/>
                <a:ea typeface="Times New Roman"/>
                <a:cs typeface="Times New Roman"/>
                <a:sym typeface="Times New Roman"/>
              </a:rPr>
              <a:t>LCP adds an additional platform for HAB monitoring</a:t>
            </a:r>
            <a:endParaRPr/>
          </a:p>
        </p:txBody>
      </p:sp>
      <p:sp>
        <p:nvSpPr>
          <p:cNvPr id="268" name="Google Shape;268;p38"/>
          <p:cNvSpPr txBox="1"/>
          <p:nvPr>
            <p:ph idx="1" type="body"/>
          </p:nvPr>
        </p:nvSpPr>
        <p:spPr>
          <a:xfrm>
            <a:off x="999725" y="1501219"/>
            <a:ext cx="10493567" cy="1356192"/>
          </a:xfrm>
          <a:prstGeom prst="rect">
            <a:avLst/>
          </a:prstGeom>
          <a:noFill/>
          <a:ln>
            <a:noFill/>
          </a:ln>
        </p:spPr>
        <p:txBody>
          <a:bodyPr anchorCtr="0" anchor="t" bIns="45700" lIns="91425" spcFirstLastPara="1" rIns="91425" wrap="square" tIns="45700">
            <a:normAutofit fontScale="85000" lnSpcReduction="20000"/>
          </a:bodyPr>
          <a:lstStyle/>
          <a:p>
            <a:pPr indent="-355600" lvl="0" marL="457200" rtl="0" algn="l">
              <a:lnSpc>
                <a:spcPct val="114000"/>
              </a:lnSpc>
              <a:spcBef>
                <a:spcPts val="1000"/>
              </a:spcBef>
              <a:spcAft>
                <a:spcPts val="0"/>
              </a:spcAft>
              <a:buSzPct val="117647"/>
              <a:buFont typeface="Arial"/>
              <a:buChar char="•"/>
            </a:pPr>
            <a:r>
              <a:rPr lang="en-US">
                <a:latin typeface="Times New Roman"/>
                <a:ea typeface="Times New Roman"/>
                <a:cs typeface="Times New Roman"/>
                <a:sym typeface="Times New Roman"/>
              </a:rPr>
              <a:t>Arctic AIR (Jiaxu Zhang, UW-CICOES) and collaborators are developing a multi-platform phytoplankton monitoring system to enable early warning of harmful algal blooms (HABs) in the Pacific Arctic.</a:t>
            </a:r>
            <a:endParaRPr/>
          </a:p>
          <a:p>
            <a:pPr indent="-355600" lvl="0" marL="457200" rtl="0" algn="l">
              <a:lnSpc>
                <a:spcPct val="114000"/>
              </a:lnSpc>
              <a:spcBef>
                <a:spcPts val="1000"/>
              </a:spcBef>
              <a:spcAft>
                <a:spcPts val="0"/>
              </a:spcAft>
              <a:buSzPct val="117647"/>
              <a:buFont typeface="Arial"/>
              <a:buChar char="•"/>
            </a:pPr>
            <a:r>
              <a:rPr lang="en-US">
                <a:latin typeface="Times New Roman"/>
                <a:ea typeface="Times New Roman"/>
                <a:cs typeface="Times New Roman"/>
                <a:sym typeface="Times New Roman"/>
              </a:rPr>
              <a:t>LCP with additional light and biological sensors (e.g, PAR, Chl-a) will greatly enhance data collection and help us better understand biophysical interactions and primary production.</a:t>
            </a:r>
            <a:endParaRPr>
              <a:latin typeface="Times New Roman"/>
              <a:ea typeface="Times New Roman"/>
              <a:cs typeface="Times New Roman"/>
              <a:sym typeface="Times New Roman"/>
            </a:endParaRPr>
          </a:p>
        </p:txBody>
      </p:sp>
      <p:pic>
        <p:nvPicPr>
          <p:cNvPr id="269" name="Google Shape;269;p38"/>
          <p:cNvPicPr preferRelativeResize="0"/>
          <p:nvPr/>
        </p:nvPicPr>
        <p:blipFill rotWithShape="1">
          <a:blip r:embed="rId3">
            <a:alphaModFix/>
          </a:blip>
          <a:srcRect b="0" l="0" r="0" t="0"/>
          <a:stretch/>
        </p:blipFill>
        <p:spPr>
          <a:xfrm>
            <a:off x="2166650" y="2857411"/>
            <a:ext cx="8159719" cy="4010709"/>
          </a:xfrm>
          <a:prstGeom prst="rect">
            <a:avLst/>
          </a:prstGeom>
          <a:noFill/>
          <a:ln>
            <a:noFill/>
          </a:ln>
        </p:spPr>
      </p:pic>
      <p:sp>
        <p:nvSpPr>
          <p:cNvPr id="270" name="Google Shape;270;p38"/>
          <p:cNvSpPr/>
          <p:nvPr/>
        </p:nvSpPr>
        <p:spPr>
          <a:xfrm>
            <a:off x="9992299" y="5475382"/>
            <a:ext cx="88135" cy="248997"/>
          </a:xfrm>
          <a:prstGeom prst="roundRect">
            <a:avLst>
              <a:gd fmla="val 16667"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271" name="Google Shape;271;p38"/>
          <p:cNvCxnSpPr/>
          <p:nvPr/>
        </p:nvCxnSpPr>
        <p:spPr>
          <a:xfrm>
            <a:off x="10025349" y="5184551"/>
            <a:ext cx="0" cy="815248"/>
          </a:xfrm>
          <a:prstGeom prst="straightConnector1">
            <a:avLst/>
          </a:prstGeom>
          <a:noFill/>
          <a:ln cap="flat" cmpd="sng" w="9525">
            <a:solidFill>
              <a:srgbClr val="7F7F7F"/>
            </a:solidFill>
            <a:prstDash val="solid"/>
            <a:round/>
            <a:headEnd len="med" w="med" type="triangle"/>
            <a:tailEnd len="med" w="med" type="triangle"/>
          </a:ln>
        </p:spPr>
      </p:cxnSp>
      <p:sp>
        <p:nvSpPr>
          <p:cNvPr id="272" name="Google Shape;272;p38"/>
          <p:cNvSpPr txBox="1"/>
          <p:nvPr/>
        </p:nvSpPr>
        <p:spPr>
          <a:xfrm>
            <a:off x="10080434" y="5415214"/>
            <a:ext cx="47961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7F7F7F"/>
                </a:solidFill>
                <a:latin typeface="Arial"/>
                <a:ea typeface="Arial"/>
                <a:cs typeface="Arial"/>
                <a:sym typeface="Arial"/>
              </a:rPr>
              <a:t>LCP</a:t>
            </a:r>
            <a:endParaRPr b="0" i="0" sz="1400" u="none" cap="none" strike="noStrike">
              <a:solidFill>
                <a:srgbClr val="000000"/>
              </a:solidFill>
              <a:latin typeface="Arial"/>
              <a:ea typeface="Arial"/>
              <a:cs typeface="Arial"/>
              <a:sym typeface="Arial"/>
            </a:endParaRPr>
          </a:p>
        </p:txBody>
      </p:sp>
      <p:sp>
        <p:nvSpPr>
          <p:cNvPr id="273" name="Google Shape;273;p38"/>
          <p:cNvSpPr txBox="1"/>
          <p:nvPr/>
        </p:nvSpPr>
        <p:spPr>
          <a:xfrm>
            <a:off x="781259" y="33650"/>
            <a:ext cx="12034684" cy="8764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3087"/>
              </a:buClr>
              <a:buSzPts val="1100"/>
              <a:buFont typeface="PT Serif"/>
              <a:buNone/>
            </a:pPr>
            <a:r>
              <a:rPr b="1" i="1" lang="en-US" sz="3733" u="none" cap="none" strike="noStrike">
                <a:solidFill>
                  <a:srgbClr val="003087"/>
                </a:solidFill>
                <a:latin typeface="PT Serif"/>
                <a:ea typeface="PT Serif"/>
                <a:cs typeface="PT Serif"/>
                <a:sym typeface="PT Serif"/>
              </a:rPr>
              <a:t>LCP: HAB Application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2024-05-19T21:51:59Z</dcterms:created>
  <dc:creator>Noah Lawrence-Slavas</dc:creator>
</cp:coreProperties>
</file>